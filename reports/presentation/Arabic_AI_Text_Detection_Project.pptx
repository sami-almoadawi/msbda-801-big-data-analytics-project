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313" r:id="rId2"/>
    <p:sldId id="264" r:id="rId3"/>
    <p:sldId id="373" r:id="rId4"/>
    <p:sldId id="374" r:id="rId5"/>
    <p:sldId id="375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  <p:sldId id="389" r:id="rId20"/>
    <p:sldId id="390" r:id="rId21"/>
    <p:sldId id="391" r:id="rId22"/>
    <p:sldId id="392" r:id="rId23"/>
    <p:sldId id="394" r:id="rId24"/>
    <p:sldId id="395" r:id="rId25"/>
    <p:sldId id="412" r:id="rId26"/>
    <p:sldId id="413" r:id="rId27"/>
    <p:sldId id="414" r:id="rId28"/>
    <p:sldId id="396" r:id="rId29"/>
    <p:sldId id="398" r:id="rId30"/>
    <p:sldId id="399" r:id="rId31"/>
    <p:sldId id="401" r:id="rId32"/>
    <p:sldId id="402" r:id="rId33"/>
    <p:sldId id="403" r:id="rId34"/>
    <p:sldId id="404" r:id="rId35"/>
    <p:sldId id="405" r:id="rId36"/>
    <p:sldId id="406" r:id="rId37"/>
    <p:sldId id="407" r:id="rId38"/>
    <p:sldId id="410" r:id="rId39"/>
    <p:sldId id="411" r:id="rId40"/>
    <p:sldId id="365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78544" autoAdjust="0"/>
  </p:normalViewPr>
  <p:slideViewPr>
    <p:cSldViewPr snapToGrid="0">
      <p:cViewPr varScale="1">
        <p:scale>
          <a:sx n="69" d="100"/>
          <a:sy n="69" d="100"/>
        </p:scale>
        <p:origin x="78" y="156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Almoadawi" userId="892e1c4cc8448f51" providerId="LiveId" clId="{5AE286DA-93F6-404A-8137-8746495C4F8B}"/>
    <pc:docChg chg="undo redo custSel mod addSld delSld modSld sldOrd">
      <pc:chgData name="Sami Almoadawi" userId="892e1c4cc8448f51" providerId="LiveId" clId="{5AE286DA-93F6-404A-8137-8746495C4F8B}" dt="2026-05-20T18:25:34.391" v="197" actId="14100"/>
      <pc:docMkLst>
        <pc:docMk/>
      </pc:docMkLst>
      <pc:sldChg chg="addSp delSp modSp mod">
        <pc:chgData name="Sami Almoadawi" userId="892e1c4cc8448f51" providerId="LiveId" clId="{5AE286DA-93F6-404A-8137-8746495C4F8B}" dt="2026-05-20T18:25:34.391" v="197" actId="14100"/>
        <pc:sldMkLst>
          <pc:docMk/>
          <pc:sldMk cId="657783824" sldId="313"/>
        </pc:sldMkLst>
        <pc:spChg chg="mod">
          <ac:chgData name="Sami Almoadawi" userId="892e1c4cc8448f51" providerId="LiveId" clId="{5AE286DA-93F6-404A-8137-8746495C4F8B}" dt="2026-05-20T17:39:05.817" v="195" actId="404"/>
          <ac:spMkLst>
            <pc:docMk/>
            <pc:sldMk cId="657783824" sldId="313"/>
            <ac:spMk id="2" creationId="{CA264C7C-760E-8914-2F73-459EB4E737B5}"/>
          </ac:spMkLst>
        </pc:spChg>
        <pc:spChg chg="mod">
          <ac:chgData name="Sami Almoadawi" userId="892e1c4cc8448f51" providerId="LiveId" clId="{5AE286DA-93F6-404A-8137-8746495C4F8B}" dt="2026-05-20T17:38:55.818" v="193" actId="1076"/>
          <ac:spMkLst>
            <pc:docMk/>
            <pc:sldMk cId="657783824" sldId="313"/>
            <ac:spMk id="3" creationId="{025E281F-A142-3008-1081-8504F2E49EF7}"/>
          </ac:spMkLst>
        </pc:spChg>
        <pc:spChg chg="mod">
          <ac:chgData name="Sami Almoadawi" userId="892e1c4cc8448f51" providerId="LiveId" clId="{5AE286DA-93F6-404A-8137-8746495C4F8B}" dt="2026-05-20T18:25:34.391" v="197" actId="14100"/>
          <ac:spMkLst>
            <pc:docMk/>
            <pc:sldMk cId="657783824" sldId="313"/>
            <ac:spMk id="4" creationId="{0B784B38-C335-9122-2004-673D27B0749D}"/>
          </ac:spMkLst>
        </pc:spChg>
        <pc:spChg chg="add del">
          <ac:chgData name="Sami Almoadawi" userId="892e1c4cc8448f51" providerId="LiveId" clId="{5AE286DA-93F6-404A-8137-8746495C4F8B}" dt="2026-05-20T17:37:33.536" v="183" actId="11529"/>
          <ac:spMkLst>
            <pc:docMk/>
            <pc:sldMk cId="657783824" sldId="313"/>
            <ac:spMk id="5" creationId="{E2E84107-B26D-FCED-0CC8-6A147B2544DA}"/>
          </ac:spMkLst>
        </pc:spChg>
      </pc:sldChg>
      <pc:sldChg chg="addSp delSp modSp mod">
        <pc:chgData name="Sami Almoadawi" userId="892e1c4cc8448f51" providerId="LiveId" clId="{5AE286DA-93F6-404A-8137-8746495C4F8B}" dt="2026-05-20T16:53:51.870" v="39" actId="14100"/>
        <pc:sldMkLst>
          <pc:docMk/>
          <pc:sldMk cId="7277093" sldId="395"/>
        </pc:sldMkLst>
        <pc:spChg chg="del">
          <ac:chgData name="Sami Almoadawi" userId="892e1c4cc8448f51" providerId="LiveId" clId="{5AE286DA-93F6-404A-8137-8746495C4F8B}" dt="2026-05-20T16:52:45.826" v="30" actId="478"/>
          <ac:spMkLst>
            <pc:docMk/>
            <pc:sldMk cId="7277093" sldId="395"/>
            <ac:spMk id="3" creationId="{E83AC41C-11B2-91DD-FA83-653FDC18A89C}"/>
          </ac:spMkLst>
        </pc:spChg>
        <pc:picChg chg="mod">
          <ac:chgData name="Sami Almoadawi" userId="892e1c4cc8448f51" providerId="LiveId" clId="{5AE286DA-93F6-404A-8137-8746495C4F8B}" dt="2026-05-20T16:53:02.326" v="33" actId="1076"/>
          <ac:picMkLst>
            <pc:docMk/>
            <pc:sldMk cId="7277093" sldId="395"/>
            <ac:picMk id="4" creationId="{1CF8C427-BE81-AA7F-B335-69C07F50B39B}"/>
          </ac:picMkLst>
        </pc:picChg>
        <pc:picChg chg="add mod">
          <ac:chgData name="Sami Almoadawi" userId="892e1c4cc8448f51" providerId="LiveId" clId="{5AE286DA-93F6-404A-8137-8746495C4F8B}" dt="2026-05-20T16:53:51.870" v="39" actId="14100"/>
          <ac:picMkLst>
            <pc:docMk/>
            <pc:sldMk cId="7277093" sldId="395"/>
            <ac:picMk id="5" creationId="{3D283E7F-5CD7-506D-254A-3657E8A2CF34}"/>
          </ac:picMkLst>
        </pc:picChg>
      </pc:sldChg>
      <pc:sldChg chg="delSp add del mod">
        <pc:chgData name="Sami Almoadawi" userId="892e1c4cc8448f51" providerId="LiveId" clId="{5AE286DA-93F6-404A-8137-8746495C4F8B}" dt="2026-05-20T16:57:26.225" v="93" actId="47"/>
        <pc:sldMkLst>
          <pc:docMk/>
          <pc:sldMk cId="4057666101" sldId="408"/>
        </pc:sldMkLst>
        <pc:picChg chg="del">
          <ac:chgData name="Sami Almoadawi" userId="892e1c4cc8448f51" providerId="LiveId" clId="{5AE286DA-93F6-404A-8137-8746495C4F8B}" dt="2026-05-20T16:55:23.211" v="68" actId="21"/>
          <ac:picMkLst>
            <pc:docMk/>
            <pc:sldMk cId="4057666101" sldId="408"/>
            <ac:picMk id="4" creationId="{40172F71-3355-D51C-5F9B-EC06562FB656}"/>
          </ac:picMkLst>
        </pc:picChg>
      </pc:sldChg>
      <pc:sldChg chg="delSp add del mod">
        <pc:chgData name="Sami Almoadawi" userId="892e1c4cc8448f51" providerId="LiveId" clId="{5AE286DA-93F6-404A-8137-8746495C4F8B}" dt="2026-05-20T16:57:31.768" v="95" actId="47"/>
        <pc:sldMkLst>
          <pc:docMk/>
          <pc:sldMk cId="3415957113" sldId="409"/>
        </pc:sldMkLst>
        <pc:picChg chg="del">
          <ac:chgData name="Sami Almoadawi" userId="892e1c4cc8448f51" providerId="LiveId" clId="{5AE286DA-93F6-404A-8137-8746495C4F8B}" dt="2026-05-20T16:57:29.870" v="94" actId="21"/>
          <ac:picMkLst>
            <pc:docMk/>
            <pc:sldMk cId="3415957113" sldId="409"/>
            <ac:picMk id="4" creationId="{CC3641EE-7485-E1FB-596E-0C292E0F88E9}"/>
          </ac:picMkLst>
        </pc:picChg>
      </pc:sldChg>
      <pc:sldChg chg="addSp delSp modSp add del mod ord">
        <pc:chgData name="Sami Almoadawi" userId="892e1c4cc8448f51" providerId="LiveId" clId="{5AE286DA-93F6-404A-8137-8746495C4F8B}" dt="2026-05-20T16:52:38.749" v="28" actId="47"/>
        <pc:sldMkLst>
          <pc:docMk/>
          <pc:sldMk cId="692940834" sldId="412"/>
        </pc:sldMkLst>
        <pc:spChg chg="del">
          <ac:chgData name="Sami Almoadawi" userId="892e1c4cc8448f51" providerId="LiveId" clId="{5AE286DA-93F6-404A-8137-8746495C4F8B}" dt="2026-05-20T16:49:49.246" v="5" actId="478"/>
          <ac:spMkLst>
            <pc:docMk/>
            <pc:sldMk cId="692940834" sldId="412"/>
            <ac:spMk id="3" creationId="{9DC0F207-C67D-7BCC-39D1-28EB26653CBC}"/>
          </ac:spMkLst>
        </pc:spChg>
        <pc:picChg chg="del">
          <ac:chgData name="Sami Almoadawi" userId="892e1c4cc8448f51" providerId="LiveId" clId="{5AE286DA-93F6-404A-8137-8746495C4F8B}" dt="2026-05-20T16:49:46.866" v="4" actId="478"/>
          <ac:picMkLst>
            <pc:docMk/>
            <pc:sldMk cId="692940834" sldId="412"/>
            <ac:picMk id="4" creationId="{1A9FEE5C-8379-EDD6-DCBB-CBE7EDA6951F}"/>
          </ac:picMkLst>
        </pc:picChg>
        <pc:picChg chg="add mod">
          <ac:chgData name="Sami Almoadawi" userId="892e1c4cc8448f51" providerId="LiveId" clId="{5AE286DA-93F6-404A-8137-8746495C4F8B}" dt="2026-05-20T16:50:28.983" v="27" actId="1440"/>
          <ac:picMkLst>
            <pc:docMk/>
            <pc:sldMk cId="692940834" sldId="412"/>
            <ac:picMk id="7" creationId="{C4FBF797-62E8-E2A4-4A7D-DBEF8981CB06}"/>
          </ac:picMkLst>
        </pc:picChg>
      </pc:sldChg>
      <pc:sldChg chg="addSp delSp modSp add mod">
        <pc:chgData name="Sami Almoadawi" userId="892e1c4cc8448f51" providerId="LiveId" clId="{5AE286DA-93F6-404A-8137-8746495C4F8B}" dt="2026-05-20T17:02:45.989" v="112" actId="14100"/>
        <pc:sldMkLst>
          <pc:docMk/>
          <pc:sldMk cId="4244281817" sldId="412"/>
        </pc:sldMkLst>
        <pc:picChg chg="add del mod">
          <ac:chgData name="Sami Almoadawi" userId="892e1c4cc8448f51" providerId="LiveId" clId="{5AE286DA-93F6-404A-8137-8746495C4F8B}" dt="2026-05-20T16:54:45.084" v="55" actId="22"/>
          <ac:picMkLst>
            <pc:docMk/>
            <pc:sldMk cId="4244281817" sldId="412"/>
            <ac:picMk id="3" creationId="{0542AFA6-E777-4DD2-4FF0-4C420555C17B}"/>
          </ac:picMkLst>
        </pc:picChg>
        <pc:picChg chg="del">
          <ac:chgData name="Sami Almoadawi" userId="892e1c4cc8448f51" providerId="LiveId" clId="{5AE286DA-93F6-404A-8137-8746495C4F8B}" dt="2026-05-20T16:55:53.497" v="77" actId="478"/>
          <ac:picMkLst>
            <pc:docMk/>
            <pc:sldMk cId="4244281817" sldId="412"/>
            <ac:picMk id="4" creationId="{0A8CBE2F-189B-49A9-CDE3-EF60AAB73B25}"/>
          </ac:picMkLst>
        </pc:picChg>
        <pc:picChg chg="add del">
          <ac:chgData name="Sami Almoadawi" userId="892e1c4cc8448f51" providerId="LiveId" clId="{5AE286DA-93F6-404A-8137-8746495C4F8B}" dt="2026-05-20T16:55:12.383" v="66" actId="478"/>
          <ac:picMkLst>
            <pc:docMk/>
            <pc:sldMk cId="4244281817" sldId="412"/>
            <ac:picMk id="5" creationId="{2D85F020-D59F-2D39-6698-4CB14D1E1EE7}"/>
          </ac:picMkLst>
        </pc:picChg>
        <pc:picChg chg="add del mod">
          <ac:chgData name="Sami Almoadawi" userId="892e1c4cc8448f51" providerId="LiveId" clId="{5AE286DA-93F6-404A-8137-8746495C4F8B}" dt="2026-05-20T16:55:59.961" v="79" actId="21"/>
          <ac:picMkLst>
            <pc:docMk/>
            <pc:sldMk cId="4244281817" sldId="412"/>
            <ac:picMk id="7" creationId="{B0FE41B2-72C4-1B5A-6656-7B5D2527C95C}"/>
          </ac:picMkLst>
        </pc:picChg>
        <pc:picChg chg="add mod">
          <ac:chgData name="Sami Almoadawi" userId="892e1c4cc8448f51" providerId="LiveId" clId="{5AE286DA-93F6-404A-8137-8746495C4F8B}" dt="2026-05-20T16:56:27.288" v="83" actId="14100"/>
          <ac:picMkLst>
            <pc:docMk/>
            <pc:sldMk cId="4244281817" sldId="412"/>
            <ac:picMk id="8" creationId="{40172F71-3355-D51C-5F9B-EC06562FB656}"/>
          </ac:picMkLst>
        </pc:picChg>
        <pc:picChg chg="add mod">
          <ac:chgData name="Sami Almoadawi" userId="892e1c4cc8448f51" providerId="LiveId" clId="{5AE286DA-93F6-404A-8137-8746495C4F8B}" dt="2026-05-20T17:02:45.989" v="112" actId="14100"/>
          <ac:picMkLst>
            <pc:docMk/>
            <pc:sldMk cId="4244281817" sldId="412"/>
            <ac:picMk id="9" creationId="{B0FE41B2-72C4-1B5A-6656-7B5D2527C95C}"/>
          </ac:picMkLst>
        </pc:picChg>
      </pc:sldChg>
      <pc:sldChg chg="addSp delSp modSp add mod">
        <pc:chgData name="Sami Almoadawi" userId="892e1c4cc8448f51" providerId="LiveId" clId="{5AE286DA-93F6-404A-8137-8746495C4F8B}" dt="2026-05-20T17:02:57.988" v="114" actId="14100"/>
        <pc:sldMkLst>
          <pc:docMk/>
          <pc:sldMk cId="1635307528" sldId="413"/>
        </pc:sldMkLst>
        <pc:picChg chg="add del mod">
          <ac:chgData name="Sami Almoadawi" userId="892e1c4cc8448f51" providerId="LiveId" clId="{5AE286DA-93F6-404A-8137-8746495C4F8B}" dt="2026-05-20T16:57:17.789" v="90" actId="21"/>
          <ac:picMkLst>
            <pc:docMk/>
            <pc:sldMk cId="1635307528" sldId="413"/>
            <ac:picMk id="3" creationId="{9EFE2495-5B89-3715-96B5-91D560716CC8}"/>
          </ac:picMkLst>
        </pc:picChg>
        <pc:picChg chg="del">
          <ac:chgData name="Sami Almoadawi" userId="892e1c4cc8448f51" providerId="LiveId" clId="{5AE286DA-93F6-404A-8137-8746495C4F8B}" dt="2026-05-20T16:57:56.064" v="103" actId="478"/>
          <ac:picMkLst>
            <pc:docMk/>
            <pc:sldMk cId="1635307528" sldId="413"/>
            <ac:picMk id="4" creationId="{9EDA9834-850B-1E17-26A8-7E5206F7AA3C}"/>
          </ac:picMkLst>
        </pc:picChg>
        <pc:picChg chg="del">
          <ac:chgData name="Sami Almoadawi" userId="892e1c4cc8448f51" providerId="LiveId" clId="{5AE286DA-93F6-404A-8137-8746495C4F8B}" dt="2026-05-20T16:57:19.498" v="91" actId="478"/>
          <ac:picMkLst>
            <pc:docMk/>
            <pc:sldMk cId="1635307528" sldId="413"/>
            <ac:picMk id="5" creationId="{1217F06B-4442-A1FF-79F5-8604B1ABF641}"/>
          </ac:picMkLst>
        </pc:picChg>
        <pc:picChg chg="add del mod">
          <ac:chgData name="Sami Almoadawi" userId="892e1c4cc8448f51" providerId="LiveId" clId="{5AE286DA-93F6-404A-8137-8746495C4F8B}" dt="2026-05-20T16:58:02.385" v="105" actId="21"/>
          <ac:picMkLst>
            <pc:docMk/>
            <pc:sldMk cId="1635307528" sldId="413"/>
            <ac:picMk id="7" creationId="{9EFE2495-5B89-3715-96B5-91D560716CC8}"/>
          </ac:picMkLst>
        </pc:picChg>
        <pc:picChg chg="add mod">
          <ac:chgData name="Sami Almoadawi" userId="892e1c4cc8448f51" providerId="LiveId" clId="{5AE286DA-93F6-404A-8137-8746495C4F8B}" dt="2026-05-20T17:02:57.988" v="114" actId="14100"/>
          <ac:picMkLst>
            <pc:docMk/>
            <pc:sldMk cId="1635307528" sldId="413"/>
            <ac:picMk id="8" creationId="{CC3641EE-7485-E1FB-596E-0C292E0F88E9}"/>
          </ac:picMkLst>
        </pc:picChg>
        <pc:picChg chg="add mod">
          <ac:chgData name="Sami Almoadawi" userId="892e1c4cc8448f51" providerId="LiveId" clId="{5AE286DA-93F6-404A-8137-8746495C4F8B}" dt="2026-05-20T17:02:53.575" v="113" actId="14100"/>
          <ac:picMkLst>
            <pc:docMk/>
            <pc:sldMk cId="1635307528" sldId="413"/>
            <ac:picMk id="9" creationId="{9EFE2495-5B89-3715-96B5-91D560716CC8}"/>
          </ac:picMkLst>
        </pc:picChg>
      </pc:sldChg>
      <pc:sldChg chg="addSp delSp modSp add mod">
        <pc:chgData name="Sami Almoadawi" userId="892e1c4cc8448f51" providerId="LiveId" clId="{5AE286DA-93F6-404A-8137-8746495C4F8B}" dt="2026-05-20T17:31:14.226" v="180" actId="1076"/>
        <pc:sldMkLst>
          <pc:docMk/>
          <pc:sldMk cId="525151295" sldId="414"/>
        </pc:sldMkLst>
        <pc:spChg chg="mod">
          <ac:chgData name="Sami Almoadawi" userId="892e1c4cc8448f51" providerId="LiveId" clId="{5AE286DA-93F6-404A-8137-8746495C4F8B}" dt="2026-05-20T17:20:09.397" v="122"/>
          <ac:spMkLst>
            <pc:docMk/>
            <pc:sldMk cId="525151295" sldId="414"/>
            <ac:spMk id="2" creationId="{6AA9463F-2BED-4C7A-48AC-9AB4BDB3AEEC}"/>
          </ac:spMkLst>
        </pc:spChg>
        <pc:picChg chg="add del mod">
          <ac:chgData name="Sami Almoadawi" userId="892e1c4cc8448f51" providerId="LiveId" clId="{5AE286DA-93F6-404A-8137-8746495C4F8B}" dt="2026-05-20T17:29:42.606" v="174" actId="478"/>
          <ac:picMkLst>
            <pc:docMk/>
            <pc:sldMk cId="525151295" sldId="414"/>
            <ac:picMk id="3" creationId="{029595AD-E002-019B-4FD9-2865A7C18644}"/>
          </ac:picMkLst>
        </pc:picChg>
        <pc:picChg chg="add del mod">
          <ac:chgData name="Sami Almoadawi" userId="892e1c4cc8448f51" providerId="LiveId" clId="{5AE286DA-93F6-404A-8137-8746495C4F8B}" dt="2026-05-20T17:24:45.018" v="163" actId="478"/>
          <ac:picMkLst>
            <pc:docMk/>
            <pc:sldMk cId="525151295" sldId="414"/>
            <ac:picMk id="4" creationId="{A77549F7-D08C-E234-0399-79DE02CBF89F}"/>
          </ac:picMkLst>
        </pc:picChg>
        <pc:picChg chg="add del mod">
          <ac:chgData name="Sami Almoadawi" userId="892e1c4cc8448f51" providerId="LiveId" clId="{5AE286DA-93F6-404A-8137-8746495C4F8B}" dt="2026-05-20T17:29:41.722" v="173" actId="478"/>
          <ac:picMkLst>
            <pc:docMk/>
            <pc:sldMk cId="525151295" sldId="414"/>
            <ac:picMk id="7" creationId="{8B105185-0EC0-7CAD-F9DD-36B0542EE55C}"/>
          </ac:picMkLst>
        </pc:picChg>
        <pc:picChg chg="del">
          <ac:chgData name="Sami Almoadawi" userId="892e1c4cc8448f51" providerId="LiveId" clId="{5AE286DA-93F6-404A-8137-8746495C4F8B}" dt="2026-05-20T17:17:58.481" v="117" actId="478"/>
          <ac:picMkLst>
            <pc:docMk/>
            <pc:sldMk cId="525151295" sldId="414"/>
            <ac:picMk id="8" creationId="{6E3503B5-EE00-BD26-A10E-AD188E31D408}"/>
          </ac:picMkLst>
        </pc:picChg>
        <pc:picChg chg="del">
          <ac:chgData name="Sami Almoadawi" userId="892e1c4cc8448f51" providerId="LiveId" clId="{5AE286DA-93F6-404A-8137-8746495C4F8B}" dt="2026-05-20T17:17:57.724" v="116" actId="478"/>
          <ac:picMkLst>
            <pc:docMk/>
            <pc:sldMk cId="525151295" sldId="414"/>
            <ac:picMk id="9" creationId="{CAD1A87D-ED00-D001-99A4-682496863533}"/>
          </ac:picMkLst>
        </pc:picChg>
        <pc:picChg chg="add mod">
          <ac:chgData name="Sami Almoadawi" userId="892e1c4cc8448f51" providerId="LiveId" clId="{5AE286DA-93F6-404A-8137-8746495C4F8B}" dt="2026-05-20T17:31:14.226" v="180" actId="1076"/>
          <ac:picMkLst>
            <pc:docMk/>
            <pc:sldMk cId="525151295" sldId="414"/>
            <ac:picMk id="10" creationId="{4EB9743A-DEE6-0E8D-7579-83BE2A0713F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5/20/2026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5/20/2026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68471-8596-C832-E141-A2B8EA760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61C13-57FB-23EA-D7FF-65AA25864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148B0A-1B95-BF89-4EE2-6DEE5C292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7347B-D4C3-1313-C8F6-E5E5976C9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59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BA1FA-48E1-F5F9-9C45-585C175CE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2F909-5433-DEB0-C4FA-A785947CB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BE97F-FC3D-EA6E-DF87-9945B92F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49441-7F68-A095-755A-0CDDDA02B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9367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930BA-54CD-162F-2148-4262DFC5C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B621-3FFE-A932-4CB4-7387A903C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117BC-670C-A6F3-2401-577305E0D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7C27D-06E3-F591-C504-0E6430014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824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20DB7-BF83-A718-ED46-E812A27F7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20CC1D-7750-CF92-567F-37142EAD8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EA5BB-5203-905E-90EF-CCBE2BCD5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CD5D56-61A5-A06E-7A80-70B828931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77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EACE6-729E-639D-407A-C2667AE2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DDF0F-2E7A-E2B1-87A7-F437A1EB3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5253F-5739-7B4A-C225-EC7EF878F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A7E74-9A60-D81B-BB86-A3FC09CE4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3110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32837-5E7B-6580-89E2-62E47FBF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F0CCF4-D431-0FAA-E25F-33DDD5602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3C72D-3522-9C22-FCDC-973432B858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8E9F-8D55-2DD9-E6A8-1526B7D1C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261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3F79-8442-188B-62ED-189CFDC6E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25631-B65F-256C-31A9-E3CE50389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0888E-EF27-078F-1E5C-47B0D04B8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81605-83A4-3DD2-1432-FB5E5D308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026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E72A-A604-203F-9BA5-755D0D26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5BCD2-3090-33BA-5680-BFB351219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121BD-DF4F-9098-6500-40C3B6C6A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A3171-8272-1671-5FA6-F82161D87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678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A01C-66DE-4C70-7754-1F2CE1EDB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709F0E-4C79-9528-19AF-F339EA23F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1D4EA-14E4-B209-4220-12BE0B921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4D429-34A9-4004-9C99-10CAF138C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486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54E3B-A431-77C7-58F5-162A374BB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47566-7D2A-9AB5-CD19-B327A87B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FDCB20-BC6A-CA73-F27B-FACEB55F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A3990-85ED-D342-91B1-5F8A5D221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341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23203-27B2-593B-2DCE-21725E5B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A582E-AA15-56C4-170C-964C7C631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87B2-10EF-0615-2331-BD9C07956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CEF2D-5A69-A3D2-4201-DA9F59EB5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65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0EAC7-941F-5CBE-7E7C-CB40DA49C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99FB6-A018-0AD8-5F1A-3EF1974F1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9C1AE-3D3E-6826-D62D-B40AE1519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FAD80-567D-C189-7711-ED1BD52B3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8205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8280-EB27-A21C-F2A7-E4A416B12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958B3-5BA6-9B40-51F8-641C82E9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0AB5E-70BB-3D53-0082-4D27DAA9D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B97BA-9A90-E060-96FB-87E2D62DF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59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47641-23AE-D6B3-F16F-1E99BA43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F8F72-A016-8950-E841-1F274B718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87FEE-DF2A-2274-41D5-23B32ED91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36515-8E3A-5311-1481-679A8C6707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235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5AF9-911B-2726-314D-434BB6A9B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93B3E-B659-DF43-5640-19EDD95E3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FE1825-DEA7-C0E1-8E4C-666317A49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D2471-CBE3-04BB-DB7B-A3A179EAB2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2865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2B58-7B0B-9D54-B615-8BF4D471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754A6-8C94-8EE1-325C-16D2A24C5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19385-ABB1-583F-8A8E-9904649FB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784CA-BC16-E271-A53B-6D49F6D08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9773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2E9A-8546-32BE-3DF1-935184B87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B56B0-9245-094F-3996-F6FCD72A7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E3A05F-43B5-FDFB-3D19-C092D06F4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938A7-9DC1-97FA-CA43-C7254DA93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546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C0A4E-E76A-A8FD-70EB-BEF63BCB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B20804-D1E7-A09E-AD92-A4F7B787DC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91717-F060-1709-D3EB-AADD6E294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3BFC8-99BA-E0E2-3CB1-6EED31BE1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793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C444A-112D-1767-9D9D-B0C7B746A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D9C8B-BA26-883F-A96F-1E8B7C624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B8A51-E974-2509-E7F0-9E61C4D21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BE069-9587-95A7-6212-F4F4A224F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545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CCCFA-F18C-3DDA-88FA-22669BFA7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0D8A7-33AA-264C-8FAD-22E5F29DF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24586D-4A2E-21DE-8951-A12934295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D71A7-DE4D-7DB1-BD93-A1341BDDD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904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C3A93-09E6-1635-02DB-283AF144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1A781C-3EC7-CD7A-4F43-B99BF9578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66E4C-920F-78B5-B05F-066AC9160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B9878-1801-40BC-1E65-7AD05A945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2138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DE9D2-322C-CE42-413C-CA2FAF98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6DC62-F79B-68F0-E08A-CD5768403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CD8AB7-6265-B1CC-4ADE-CEE26080E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A3407-95E1-A934-2FDB-36EF81366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9335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6FC6C-346A-EE51-187F-0C00DBF12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546A0-A786-4C38-C5BE-16385F35E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201B5B-D358-DB4F-8DC8-3D7BCAADD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BC151-9CB5-D852-15D9-CA10FF379F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100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A7E6-AD2D-7E1E-C137-135A50F6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9817B-3BEE-EBE2-60EE-C4190F47E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0B70-CE5E-E410-1BF6-FB9D7E863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32B49-45C0-727D-7D15-C36414089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306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22E73-FAB3-7E81-29AF-D17C5A0DD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358B2-8E7E-B857-6290-219E566E4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63B0D-62D3-0F44-1508-41F81F920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5718A-D943-3A6E-C01E-EFA5370FF2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1029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70245-A8E4-58A4-FD5F-71876813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77B0A-1CD7-F14D-3FEC-D631EA06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2629F-7500-B90B-CD34-1CAB088C9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AB77B-35B1-0ADF-FA00-0BDCDD0AD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479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F86A8-201B-97CF-441B-8C42FC1F5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58DE-9D19-18E9-CA76-781C9FC71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DB001-28BF-67BE-5890-F9DBD9D58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C0DD5-7CB8-FECD-6B3E-1689225EB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380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88F89-0708-AF2E-2B34-3516DAA2F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726E6-CD6B-D1FE-E0E9-8B954F483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92998-8D3D-81AF-7AD2-72C35B198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FEECC-669B-C7AE-D64F-8345E9AB0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4426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86F1E-5ED9-618C-11C6-BAEA3461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2A68D-0FB7-A1C4-DFA7-EB2E29E3F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6F1E3-BD6E-4F1E-8C4E-31A0A1079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90C2F-093D-DEDD-1338-24BBF7F06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2092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4591D-197C-90A5-B07E-94DEE1D01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8907EE-AE8A-5672-BDA2-BD4336B4C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69194-771E-4C7F-EB78-558334F89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1C2E-32F6-F505-1A92-21EA3B474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288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567E-4F84-9E1A-D1C0-2E5934209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A868E-F4E6-6A3F-2CD7-3AACC3772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92A5F-EA6C-73D3-5D38-46D704677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AA445-16DB-C771-E6A0-773F95D66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9274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11502-8C27-19AA-65CB-C0EFDE29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CE755C-8C72-028A-122B-27D06275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E4F5C-1CAC-59B9-CA1C-6941DBE09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3B674-C84A-5D74-EC2C-338AF6D04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9854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5925D-DF3E-6E14-905F-6207996AD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D3152-6B1B-C24D-273A-A11957EAA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81F70-F64F-3F29-1021-1D2C40541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A929-9FD3-E6E3-790E-498C93796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50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65D18-F263-BF2D-2E05-4CB41F2C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D79F45-7677-9188-0DCA-973EC0946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A8ECD-3B77-5141-4147-45060CC1C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A807D-3F38-F6C8-A8EE-F5597FD31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3299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A78DB-FC09-AF7F-7CE0-92A48EDD0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2C07B5-E497-863E-9AC0-E5B80FB21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6696A4-E01C-E227-FEB1-68FDC5660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3F15-A77F-849C-DE57-14E3E0BF9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6509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8D2CA-64AA-E503-72D9-86BA33F59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123F-BCCA-889A-28C7-E7A9C6D6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144D5-3907-2618-EC13-A068FDAA2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2CF6E-741B-9CCF-A0BF-BFB3F09EB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1123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75FD-447D-FC15-B8D5-DC8660C8F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121DAA-E8FD-DD5F-8D93-8F95A2A3C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10A12-C44F-2538-B732-23CF2C933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67D49-EF78-E3C2-9265-6CC80CEEA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6508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1E41A-4ABC-CD69-7F6F-A438664B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D66D34-F002-0EFA-361C-5A7DB342E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8A37CF-CA6E-A9E2-C907-79CB3472F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405D8-FE83-EE1F-1846-B8F232469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593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.svg"/><Relationship Id="rId4" Type="http://schemas.openxmlformats.org/officeDocument/2006/relationships/image" Target="../media/image9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64C7C-760E-8914-2F73-459EB4E737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4490" y="1466898"/>
            <a:ext cx="9291483" cy="1415844"/>
          </a:xfrm>
        </p:spPr>
        <p:txBody>
          <a:bodyPr>
            <a:no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Real-time Detection of AI-Generated Arabic Text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Data Pipeline Approach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5E281F-A142-3008-1081-8504F2E49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2786" y="2537476"/>
            <a:ext cx="6727634" cy="15718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Course: MSBDA-801 Big Data Analytics </a:t>
            </a:r>
          </a:p>
          <a:p>
            <a:pPr lvl="0"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Type: Final Course Graduation Team Project </a:t>
            </a:r>
          </a:p>
          <a:p>
            <a:pPr lvl="0"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Technologies: PySpark, Spark MLlib, Structured Streaming </a:t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0B784B38-C335-9122-2004-673D27B0749D}"/>
              </a:ext>
            </a:extLst>
          </p:cNvPr>
          <p:cNvSpPr/>
          <p:nvPr/>
        </p:nvSpPr>
        <p:spPr>
          <a:xfrm>
            <a:off x="6677890" y="4232297"/>
            <a:ext cx="5352529" cy="2279339"/>
          </a:xfrm>
          <a:prstGeom prst="rect">
            <a:avLst/>
          </a:prstGeom>
          <a:solidFill>
            <a:schemeClr val="accent2">
              <a:lumMod val="60000"/>
              <a:lumOff val="40000"/>
              <a:alpha val="40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ysDot"/>
          </a:ln>
        </p:spPr>
        <p:txBody>
          <a:bodyPr/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</a:p>
          <a:p>
            <a:pPr algn="ctr" rtl="1">
              <a:lnSpc>
                <a:spcPct val="150000"/>
              </a:lnSpc>
              <a:spcBef>
                <a:spcPts val="300"/>
              </a:spcBef>
            </a:pP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Sami Ruzeq M. Almoadawi</a:t>
            </a:r>
          </a:p>
          <a:p>
            <a:pPr algn="ctr" rtl="1">
              <a:lnSpc>
                <a:spcPct val="150000"/>
              </a:lnSpc>
              <a:spcBef>
                <a:spcPts val="300"/>
              </a:spcBef>
            </a:pP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4714252 </a:t>
            </a:r>
          </a:p>
          <a:p>
            <a:pPr rtl="1"/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Supervisor:</a:t>
            </a:r>
          </a:p>
          <a:p>
            <a:pPr algn="ctr" rtl="1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Mohammed Al-sarem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783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8D866ED-E4C0-9855-7F94-8203A5C0CB5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3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Rapid growth of AI-generated Arabic text.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in detecting machine-generated content. </a:t>
            </a:r>
          </a:p>
          <a:p>
            <a:pPr lvl="0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Risks related to: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integrity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Misinformation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content generation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Plagiarism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7960-187F-76C9-E048-C15ED44FA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23ED-D41B-7606-A57D-CC1AF851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8F9E9-40F3-B852-A68B-DDE45D57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732B2BF-1F0D-2A78-D9C3-F10B22E3EC9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676400"/>
            <a:ext cx="6370072" cy="2899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scalable distributed pipeline capable of detecting AI-generated Arabic abstracts using Big Data technologies.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326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2AA14-BC54-A3CD-6C98-D71A7EDB7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1B53-FC08-1875-0421-B54F64571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A3F23-BB4E-1E72-6605-651778DEF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ED0522C-C385-D10D-B92E-17875612A40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4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distributed Arabic NLP pipeline.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Arabic-specific preprocessing.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scalable feature engineering.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multiple machine learning models.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best model using Spark Structured Streaming.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batch vs stream processing.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Benchmark scalability and performance.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57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A613-87ED-DEDB-A910-29191EB56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3707-C60D-AE85-64D3-D4E22BE73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3C00C-F348-9E49-1D3A-4E732374B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006ACD-4531-F437-57F7-5D8B0D1DE4E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832362"/>
            <a:ext cx="6370072" cy="4222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KFUPM-JRCAI Arabic Generated Abstracts Dataset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(Hugging Face)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subsets: 3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combined samples: ~41,940 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12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1874-5F92-EBBF-AE89-B9961CE8D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3E557-E694-533D-BEFA-1BB202718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E0EA2-CEA0-1FDC-61BE-901F6F75C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B277CA-F066-DF05-901B-1CA1EDC12700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447642"/>
            <a:ext cx="6370072" cy="4992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Classes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Human-written abstracts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AI-generated abstracts 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Models Included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LLaMA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ALLAM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252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9121-7DA8-30E9-E0BF-BE0EE67FF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F45EA-2F27-93DE-9177-DF22FB5E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F5F3C-7C90-4223-B9BE-63408C08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CC2E0D-55B6-A599-BCA8-577EB1E25E86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 bwMode="auto">
          <a:xfrm>
            <a:off x="750674" y="1336431"/>
            <a:ext cx="6230418" cy="4747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85540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0FD6B-5B4A-0BA1-F15E-04E0A594C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FCEE5-6F65-D83A-7762-F61F7142C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3AF73-0875-089D-AC93-152E0340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BF3D36F-7BA2-EC7B-B738-468D9163369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Pipeline Architecture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Colab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PySpark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MLlib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 </a:t>
            </a:r>
          </a:p>
          <a:p>
            <a:pPr algn="just"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4057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A77B6-D8F3-9D1A-6D31-0FABC076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454A-AD51-5FB6-2776-E15E3229D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5A37A-1B01-24E0-9FB0-A520969E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525D9A4-4802-985F-2093-5C48F7CAFEB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493810"/>
            <a:ext cx="6370072" cy="48998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Pipeline Stages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Modeling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Deployment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&amp; Benchmarking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514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79A36-DD72-70EA-58B4-AF92E6B33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CA01-AB32-B42A-C3CB-114CDF1DA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D807F-D963-3DEC-C4A6-AD0A1662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F7F45-D129-E87A-CFCE-B265476C3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86" y="1283244"/>
            <a:ext cx="5618603" cy="5436961"/>
          </a:xfrm>
          <a:custGeom>
            <a:avLst/>
            <a:gdLst>
              <a:gd name="csX0" fmla="*/ 0 w 5618603"/>
              <a:gd name="csY0" fmla="*/ 0 h 5436961"/>
              <a:gd name="csX1" fmla="*/ 618046 w 5618603"/>
              <a:gd name="csY1" fmla="*/ 0 h 5436961"/>
              <a:gd name="csX2" fmla="*/ 1011349 w 5618603"/>
              <a:gd name="csY2" fmla="*/ 0 h 5436961"/>
              <a:gd name="csX3" fmla="*/ 1685581 w 5618603"/>
              <a:gd name="csY3" fmla="*/ 0 h 5436961"/>
              <a:gd name="csX4" fmla="*/ 2247441 w 5618603"/>
              <a:gd name="csY4" fmla="*/ 0 h 5436961"/>
              <a:gd name="csX5" fmla="*/ 2640743 w 5618603"/>
              <a:gd name="csY5" fmla="*/ 0 h 5436961"/>
              <a:gd name="csX6" fmla="*/ 3202604 w 5618603"/>
              <a:gd name="csY6" fmla="*/ 0 h 5436961"/>
              <a:gd name="csX7" fmla="*/ 3876836 w 5618603"/>
              <a:gd name="csY7" fmla="*/ 0 h 5436961"/>
              <a:gd name="csX8" fmla="*/ 4382510 w 5618603"/>
              <a:gd name="csY8" fmla="*/ 0 h 5436961"/>
              <a:gd name="csX9" fmla="*/ 4888185 w 5618603"/>
              <a:gd name="csY9" fmla="*/ 0 h 5436961"/>
              <a:gd name="csX10" fmla="*/ 5618603 w 5618603"/>
              <a:gd name="csY10" fmla="*/ 0 h 5436961"/>
              <a:gd name="csX11" fmla="*/ 5618603 w 5618603"/>
              <a:gd name="csY11" fmla="*/ 598066 h 5436961"/>
              <a:gd name="csX12" fmla="*/ 5618603 w 5618603"/>
              <a:gd name="csY12" fmla="*/ 1141762 h 5436961"/>
              <a:gd name="csX13" fmla="*/ 5618603 w 5618603"/>
              <a:gd name="csY13" fmla="*/ 1794197 h 5436961"/>
              <a:gd name="csX14" fmla="*/ 5618603 w 5618603"/>
              <a:gd name="csY14" fmla="*/ 2283524 h 5436961"/>
              <a:gd name="csX15" fmla="*/ 5618603 w 5618603"/>
              <a:gd name="csY15" fmla="*/ 2718481 h 5436961"/>
              <a:gd name="csX16" fmla="*/ 5618603 w 5618603"/>
              <a:gd name="csY16" fmla="*/ 3262177 h 5436961"/>
              <a:gd name="csX17" fmla="*/ 5618603 w 5618603"/>
              <a:gd name="csY17" fmla="*/ 3860242 h 5436961"/>
              <a:gd name="csX18" fmla="*/ 5618603 w 5618603"/>
              <a:gd name="csY18" fmla="*/ 4512678 h 5436961"/>
              <a:gd name="csX19" fmla="*/ 5618603 w 5618603"/>
              <a:gd name="csY19" fmla="*/ 5436961 h 5436961"/>
              <a:gd name="csX20" fmla="*/ 4944371 w 5618603"/>
              <a:gd name="csY20" fmla="*/ 5436961 h 5436961"/>
              <a:gd name="csX21" fmla="*/ 4438696 w 5618603"/>
              <a:gd name="csY21" fmla="*/ 5436961 h 5436961"/>
              <a:gd name="csX22" fmla="*/ 3933022 w 5618603"/>
              <a:gd name="csY22" fmla="*/ 5436961 h 5436961"/>
              <a:gd name="csX23" fmla="*/ 3427348 w 5618603"/>
              <a:gd name="csY23" fmla="*/ 5436961 h 5436961"/>
              <a:gd name="csX24" fmla="*/ 2809301 w 5618603"/>
              <a:gd name="csY24" fmla="*/ 5436961 h 5436961"/>
              <a:gd name="csX25" fmla="*/ 2247441 w 5618603"/>
              <a:gd name="csY25" fmla="*/ 5436961 h 5436961"/>
              <a:gd name="csX26" fmla="*/ 1854139 w 5618603"/>
              <a:gd name="csY26" fmla="*/ 5436961 h 5436961"/>
              <a:gd name="csX27" fmla="*/ 1348465 w 5618603"/>
              <a:gd name="csY27" fmla="*/ 5436961 h 5436961"/>
              <a:gd name="csX28" fmla="*/ 730418 w 5618603"/>
              <a:gd name="csY28" fmla="*/ 5436961 h 5436961"/>
              <a:gd name="csX29" fmla="*/ 0 w 5618603"/>
              <a:gd name="csY29" fmla="*/ 5436961 h 5436961"/>
              <a:gd name="csX30" fmla="*/ 0 w 5618603"/>
              <a:gd name="csY30" fmla="*/ 4784526 h 5436961"/>
              <a:gd name="csX31" fmla="*/ 0 w 5618603"/>
              <a:gd name="csY31" fmla="*/ 4403938 h 5436961"/>
              <a:gd name="csX32" fmla="*/ 0 w 5618603"/>
              <a:gd name="csY32" fmla="*/ 3751503 h 5436961"/>
              <a:gd name="csX33" fmla="*/ 0 w 5618603"/>
              <a:gd name="csY33" fmla="*/ 3370916 h 5436961"/>
              <a:gd name="csX34" fmla="*/ 0 w 5618603"/>
              <a:gd name="csY34" fmla="*/ 2827220 h 5436961"/>
              <a:gd name="csX35" fmla="*/ 0 w 5618603"/>
              <a:gd name="csY35" fmla="*/ 2392263 h 5436961"/>
              <a:gd name="csX36" fmla="*/ 0 w 5618603"/>
              <a:gd name="csY36" fmla="*/ 1957306 h 5436961"/>
              <a:gd name="csX37" fmla="*/ 0 w 5618603"/>
              <a:gd name="csY37" fmla="*/ 1522349 h 5436961"/>
              <a:gd name="csX38" fmla="*/ 0 w 5618603"/>
              <a:gd name="csY38" fmla="*/ 1087392 h 5436961"/>
              <a:gd name="csX39" fmla="*/ 0 w 5618603"/>
              <a:gd name="csY39" fmla="*/ 598066 h 5436961"/>
              <a:gd name="csX40" fmla="*/ 0 w 5618603"/>
              <a:gd name="csY40" fmla="*/ 0 h 54369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5618603" h="5436961" fill="none" extrusionOk="0">
                <a:moveTo>
                  <a:pt x="0" y="0"/>
                </a:moveTo>
                <a:cubicBezTo>
                  <a:pt x="215213" y="-3787"/>
                  <a:pt x="464738" y="68516"/>
                  <a:pt x="618046" y="0"/>
                </a:cubicBezTo>
                <a:cubicBezTo>
                  <a:pt x="771354" y="-68516"/>
                  <a:pt x="866959" y="43419"/>
                  <a:pt x="1011349" y="0"/>
                </a:cubicBezTo>
                <a:cubicBezTo>
                  <a:pt x="1155739" y="-43419"/>
                  <a:pt x="1514950" y="39207"/>
                  <a:pt x="1685581" y="0"/>
                </a:cubicBezTo>
                <a:cubicBezTo>
                  <a:pt x="1856212" y="-39207"/>
                  <a:pt x="2031608" y="47407"/>
                  <a:pt x="2247441" y="0"/>
                </a:cubicBezTo>
                <a:cubicBezTo>
                  <a:pt x="2463274" y="-47407"/>
                  <a:pt x="2517096" y="33010"/>
                  <a:pt x="2640743" y="0"/>
                </a:cubicBezTo>
                <a:cubicBezTo>
                  <a:pt x="2764390" y="-33010"/>
                  <a:pt x="2967994" y="62585"/>
                  <a:pt x="3202604" y="0"/>
                </a:cubicBezTo>
                <a:cubicBezTo>
                  <a:pt x="3437214" y="-62585"/>
                  <a:pt x="3726830" y="34400"/>
                  <a:pt x="3876836" y="0"/>
                </a:cubicBezTo>
                <a:cubicBezTo>
                  <a:pt x="4026842" y="-34400"/>
                  <a:pt x="4208071" y="13247"/>
                  <a:pt x="4382510" y="0"/>
                </a:cubicBezTo>
                <a:cubicBezTo>
                  <a:pt x="4556949" y="-13247"/>
                  <a:pt x="4661737" y="1632"/>
                  <a:pt x="4888185" y="0"/>
                </a:cubicBezTo>
                <a:cubicBezTo>
                  <a:pt x="5114634" y="-1632"/>
                  <a:pt x="5273718" y="63347"/>
                  <a:pt x="5618603" y="0"/>
                </a:cubicBezTo>
                <a:cubicBezTo>
                  <a:pt x="5639754" y="253671"/>
                  <a:pt x="5560712" y="371054"/>
                  <a:pt x="5618603" y="598066"/>
                </a:cubicBezTo>
                <a:cubicBezTo>
                  <a:pt x="5676494" y="825078"/>
                  <a:pt x="5596710" y="877392"/>
                  <a:pt x="5618603" y="1141762"/>
                </a:cubicBezTo>
                <a:cubicBezTo>
                  <a:pt x="5640496" y="1406132"/>
                  <a:pt x="5616458" y="1524391"/>
                  <a:pt x="5618603" y="1794197"/>
                </a:cubicBezTo>
                <a:cubicBezTo>
                  <a:pt x="5620748" y="2064004"/>
                  <a:pt x="5563871" y="2179183"/>
                  <a:pt x="5618603" y="2283524"/>
                </a:cubicBezTo>
                <a:cubicBezTo>
                  <a:pt x="5673335" y="2387865"/>
                  <a:pt x="5593918" y="2560368"/>
                  <a:pt x="5618603" y="2718481"/>
                </a:cubicBezTo>
                <a:cubicBezTo>
                  <a:pt x="5643288" y="2876594"/>
                  <a:pt x="5573296" y="3105482"/>
                  <a:pt x="5618603" y="3262177"/>
                </a:cubicBezTo>
                <a:cubicBezTo>
                  <a:pt x="5663910" y="3418872"/>
                  <a:pt x="5547019" y="3597643"/>
                  <a:pt x="5618603" y="3860242"/>
                </a:cubicBezTo>
                <a:cubicBezTo>
                  <a:pt x="5690187" y="4122841"/>
                  <a:pt x="5604494" y="4291236"/>
                  <a:pt x="5618603" y="4512678"/>
                </a:cubicBezTo>
                <a:cubicBezTo>
                  <a:pt x="5632712" y="4734120"/>
                  <a:pt x="5594358" y="5107855"/>
                  <a:pt x="5618603" y="5436961"/>
                </a:cubicBezTo>
                <a:cubicBezTo>
                  <a:pt x="5355551" y="5463662"/>
                  <a:pt x="5272029" y="5360580"/>
                  <a:pt x="4944371" y="5436961"/>
                </a:cubicBezTo>
                <a:cubicBezTo>
                  <a:pt x="4616713" y="5513342"/>
                  <a:pt x="4666915" y="5387458"/>
                  <a:pt x="4438696" y="5436961"/>
                </a:cubicBezTo>
                <a:cubicBezTo>
                  <a:pt x="4210477" y="5486464"/>
                  <a:pt x="4041623" y="5385553"/>
                  <a:pt x="3933022" y="5436961"/>
                </a:cubicBezTo>
                <a:cubicBezTo>
                  <a:pt x="3824421" y="5488369"/>
                  <a:pt x="3630949" y="5382415"/>
                  <a:pt x="3427348" y="5436961"/>
                </a:cubicBezTo>
                <a:cubicBezTo>
                  <a:pt x="3223747" y="5491507"/>
                  <a:pt x="3005024" y="5381245"/>
                  <a:pt x="2809301" y="5436961"/>
                </a:cubicBezTo>
                <a:cubicBezTo>
                  <a:pt x="2613578" y="5492677"/>
                  <a:pt x="2512642" y="5383655"/>
                  <a:pt x="2247441" y="5436961"/>
                </a:cubicBezTo>
                <a:cubicBezTo>
                  <a:pt x="1982240" y="5490267"/>
                  <a:pt x="2002294" y="5420931"/>
                  <a:pt x="1854139" y="5436961"/>
                </a:cubicBezTo>
                <a:cubicBezTo>
                  <a:pt x="1705984" y="5452991"/>
                  <a:pt x="1526793" y="5380324"/>
                  <a:pt x="1348465" y="5436961"/>
                </a:cubicBezTo>
                <a:cubicBezTo>
                  <a:pt x="1170137" y="5493598"/>
                  <a:pt x="866488" y="5387296"/>
                  <a:pt x="730418" y="5436961"/>
                </a:cubicBezTo>
                <a:cubicBezTo>
                  <a:pt x="594348" y="5486626"/>
                  <a:pt x="192228" y="5411646"/>
                  <a:pt x="0" y="5436961"/>
                </a:cubicBezTo>
                <a:cubicBezTo>
                  <a:pt x="-69311" y="5172164"/>
                  <a:pt x="27580" y="5009097"/>
                  <a:pt x="0" y="4784526"/>
                </a:cubicBezTo>
                <a:cubicBezTo>
                  <a:pt x="-27580" y="4559955"/>
                  <a:pt x="23812" y="4490193"/>
                  <a:pt x="0" y="4403938"/>
                </a:cubicBezTo>
                <a:cubicBezTo>
                  <a:pt x="-23812" y="4317683"/>
                  <a:pt x="58160" y="4021532"/>
                  <a:pt x="0" y="3751503"/>
                </a:cubicBezTo>
                <a:cubicBezTo>
                  <a:pt x="-58160" y="3481474"/>
                  <a:pt x="12506" y="3497663"/>
                  <a:pt x="0" y="3370916"/>
                </a:cubicBezTo>
                <a:cubicBezTo>
                  <a:pt x="-12506" y="3244169"/>
                  <a:pt x="19902" y="3092298"/>
                  <a:pt x="0" y="2827220"/>
                </a:cubicBezTo>
                <a:cubicBezTo>
                  <a:pt x="-19902" y="2562142"/>
                  <a:pt x="43873" y="2522975"/>
                  <a:pt x="0" y="2392263"/>
                </a:cubicBezTo>
                <a:cubicBezTo>
                  <a:pt x="-43873" y="2261551"/>
                  <a:pt x="5692" y="2162010"/>
                  <a:pt x="0" y="1957306"/>
                </a:cubicBezTo>
                <a:cubicBezTo>
                  <a:pt x="-5692" y="1752602"/>
                  <a:pt x="39418" y="1666738"/>
                  <a:pt x="0" y="1522349"/>
                </a:cubicBezTo>
                <a:cubicBezTo>
                  <a:pt x="-39418" y="1377960"/>
                  <a:pt x="27267" y="1198294"/>
                  <a:pt x="0" y="1087392"/>
                </a:cubicBezTo>
                <a:cubicBezTo>
                  <a:pt x="-27267" y="976490"/>
                  <a:pt x="56514" y="779897"/>
                  <a:pt x="0" y="598066"/>
                </a:cubicBezTo>
                <a:cubicBezTo>
                  <a:pt x="-56514" y="416235"/>
                  <a:pt x="14399" y="244604"/>
                  <a:pt x="0" y="0"/>
                </a:cubicBezTo>
                <a:close/>
              </a:path>
              <a:path w="5618603" h="5436961" stroke="0" extrusionOk="0">
                <a:moveTo>
                  <a:pt x="0" y="0"/>
                </a:moveTo>
                <a:cubicBezTo>
                  <a:pt x="242663" y="-45220"/>
                  <a:pt x="380815" y="9512"/>
                  <a:pt x="505674" y="0"/>
                </a:cubicBezTo>
                <a:cubicBezTo>
                  <a:pt x="630533" y="-9512"/>
                  <a:pt x="807735" y="3767"/>
                  <a:pt x="898976" y="0"/>
                </a:cubicBezTo>
                <a:cubicBezTo>
                  <a:pt x="990217" y="-3767"/>
                  <a:pt x="1367592" y="62419"/>
                  <a:pt x="1573209" y="0"/>
                </a:cubicBezTo>
                <a:cubicBezTo>
                  <a:pt x="1778826" y="-62419"/>
                  <a:pt x="1941665" y="9978"/>
                  <a:pt x="2078883" y="0"/>
                </a:cubicBezTo>
                <a:cubicBezTo>
                  <a:pt x="2216101" y="-9978"/>
                  <a:pt x="2443298" y="40240"/>
                  <a:pt x="2584557" y="0"/>
                </a:cubicBezTo>
                <a:cubicBezTo>
                  <a:pt x="2725816" y="-40240"/>
                  <a:pt x="2991670" y="62474"/>
                  <a:pt x="3258790" y="0"/>
                </a:cubicBezTo>
                <a:cubicBezTo>
                  <a:pt x="3525910" y="-62474"/>
                  <a:pt x="3549286" y="15763"/>
                  <a:pt x="3708278" y="0"/>
                </a:cubicBezTo>
                <a:cubicBezTo>
                  <a:pt x="3867270" y="-15763"/>
                  <a:pt x="4205316" y="60625"/>
                  <a:pt x="4382510" y="0"/>
                </a:cubicBezTo>
                <a:cubicBezTo>
                  <a:pt x="4559704" y="-60625"/>
                  <a:pt x="4897509" y="79720"/>
                  <a:pt x="5056743" y="0"/>
                </a:cubicBezTo>
                <a:cubicBezTo>
                  <a:pt x="5215977" y="-79720"/>
                  <a:pt x="5365084" y="43873"/>
                  <a:pt x="5618603" y="0"/>
                </a:cubicBezTo>
                <a:cubicBezTo>
                  <a:pt x="5629386" y="305279"/>
                  <a:pt x="5564605" y="375239"/>
                  <a:pt x="5618603" y="652435"/>
                </a:cubicBezTo>
                <a:cubicBezTo>
                  <a:pt x="5672601" y="929632"/>
                  <a:pt x="5601934" y="972590"/>
                  <a:pt x="5618603" y="1250501"/>
                </a:cubicBezTo>
                <a:cubicBezTo>
                  <a:pt x="5635272" y="1528412"/>
                  <a:pt x="5606155" y="1549779"/>
                  <a:pt x="5618603" y="1631088"/>
                </a:cubicBezTo>
                <a:cubicBezTo>
                  <a:pt x="5631051" y="1712397"/>
                  <a:pt x="5604587" y="1920494"/>
                  <a:pt x="5618603" y="2174784"/>
                </a:cubicBezTo>
                <a:cubicBezTo>
                  <a:pt x="5632619" y="2429074"/>
                  <a:pt x="5603427" y="2537458"/>
                  <a:pt x="5618603" y="2718481"/>
                </a:cubicBezTo>
                <a:cubicBezTo>
                  <a:pt x="5633779" y="2899504"/>
                  <a:pt x="5602162" y="3031780"/>
                  <a:pt x="5618603" y="3262177"/>
                </a:cubicBezTo>
                <a:cubicBezTo>
                  <a:pt x="5635044" y="3492574"/>
                  <a:pt x="5595465" y="3576378"/>
                  <a:pt x="5618603" y="3860242"/>
                </a:cubicBezTo>
                <a:cubicBezTo>
                  <a:pt x="5641741" y="4144106"/>
                  <a:pt x="5612465" y="4269694"/>
                  <a:pt x="5618603" y="4458308"/>
                </a:cubicBezTo>
                <a:cubicBezTo>
                  <a:pt x="5624741" y="4646922"/>
                  <a:pt x="5564158" y="5069930"/>
                  <a:pt x="5618603" y="5436961"/>
                </a:cubicBezTo>
                <a:cubicBezTo>
                  <a:pt x="5471093" y="5460262"/>
                  <a:pt x="5410548" y="5405936"/>
                  <a:pt x="5225301" y="5436961"/>
                </a:cubicBezTo>
                <a:cubicBezTo>
                  <a:pt x="5040054" y="5467986"/>
                  <a:pt x="4855115" y="5382734"/>
                  <a:pt x="4551068" y="5436961"/>
                </a:cubicBezTo>
                <a:cubicBezTo>
                  <a:pt x="4247021" y="5491188"/>
                  <a:pt x="4168189" y="5376528"/>
                  <a:pt x="3989208" y="5436961"/>
                </a:cubicBezTo>
                <a:cubicBezTo>
                  <a:pt x="3810227" y="5497394"/>
                  <a:pt x="3643629" y="5411804"/>
                  <a:pt x="3539720" y="5436961"/>
                </a:cubicBezTo>
                <a:cubicBezTo>
                  <a:pt x="3435811" y="5462118"/>
                  <a:pt x="3246225" y="5373085"/>
                  <a:pt x="2977860" y="5436961"/>
                </a:cubicBezTo>
                <a:cubicBezTo>
                  <a:pt x="2709495" y="5500837"/>
                  <a:pt x="2684045" y="5407492"/>
                  <a:pt x="2584557" y="5436961"/>
                </a:cubicBezTo>
                <a:cubicBezTo>
                  <a:pt x="2485069" y="5466430"/>
                  <a:pt x="2332483" y="5395866"/>
                  <a:pt x="2191255" y="5436961"/>
                </a:cubicBezTo>
                <a:cubicBezTo>
                  <a:pt x="2050027" y="5478056"/>
                  <a:pt x="1875859" y="5380720"/>
                  <a:pt x="1629395" y="5436961"/>
                </a:cubicBezTo>
                <a:cubicBezTo>
                  <a:pt x="1382931" y="5493202"/>
                  <a:pt x="1317219" y="5405642"/>
                  <a:pt x="1179907" y="5436961"/>
                </a:cubicBezTo>
                <a:cubicBezTo>
                  <a:pt x="1042595" y="5468280"/>
                  <a:pt x="710490" y="5433899"/>
                  <a:pt x="561860" y="5436961"/>
                </a:cubicBezTo>
                <a:cubicBezTo>
                  <a:pt x="413230" y="5440023"/>
                  <a:pt x="136875" y="5375851"/>
                  <a:pt x="0" y="5436961"/>
                </a:cubicBezTo>
                <a:cubicBezTo>
                  <a:pt x="-49789" y="5169053"/>
                  <a:pt x="62997" y="5039268"/>
                  <a:pt x="0" y="4838895"/>
                </a:cubicBezTo>
                <a:cubicBezTo>
                  <a:pt x="-62997" y="4638522"/>
                  <a:pt x="19450" y="4477343"/>
                  <a:pt x="0" y="4240830"/>
                </a:cubicBezTo>
                <a:cubicBezTo>
                  <a:pt x="-19450" y="4004318"/>
                  <a:pt x="46879" y="4022754"/>
                  <a:pt x="0" y="3805873"/>
                </a:cubicBezTo>
                <a:cubicBezTo>
                  <a:pt x="-46879" y="3588992"/>
                  <a:pt x="20187" y="3424494"/>
                  <a:pt x="0" y="3207807"/>
                </a:cubicBezTo>
                <a:cubicBezTo>
                  <a:pt x="-20187" y="2991120"/>
                  <a:pt x="39294" y="2832984"/>
                  <a:pt x="0" y="2555372"/>
                </a:cubicBezTo>
                <a:cubicBezTo>
                  <a:pt x="-39294" y="2277761"/>
                  <a:pt x="45273" y="2253256"/>
                  <a:pt x="0" y="2066045"/>
                </a:cubicBezTo>
                <a:cubicBezTo>
                  <a:pt x="-45273" y="1878834"/>
                  <a:pt x="67063" y="1679015"/>
                  <a:pt x="0" y="1413610"/>
                </a:cubicBezTo>
                <a:cubicBezTo>
                  <a:pt x="-67063" y="1148205"/>
                  <a:pt x="45958" y="1069736"/>
                  <a:pt x="0" y="978653"/>
                </a:cubicBezTo>
                <a:cubicBezTo>
                  <a:pt x="-45958" y="887570"/>
                  <a:pt x="2898" y="783105"/>
                  <a:pt x="0" y="598066"/>
                </a:cubicBezTo>
                <a:cubicBezTo>
                  <a:pt x="-2898" y="413027"/>
                  <a:pt x="52903" y="247503"/>
                  <a:pt x="0" y="0"/>
                </a:cubicBezTo>
                <a:close/>
              </a:path>
            </a:pathLst>
          </a:custGeom>
          <a:ln w="34925"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1689788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E23C-C151-C7F5-1EA7-4FF368F12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11A3-CF09-BAFC-671C-5C79ACAD2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69658-6A12-46F3-B46C-D672FA11C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81BD062-E5D4-AB18-7B3D-C7A951EED81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7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NLP Preprocessing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Techniques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normalization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Diacritics removal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Stopword removal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stemming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character cleaning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627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08E8-0BDA-0AAE-EF4A-60DFAFC5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AAEA8-7334-2FAE-AD47-B1A5FC87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93D08-9D80-221D-D2DE-B19117ACF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1079577-CCC0-8791-F8BC-3DF33A235F8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35212" y="2238402"/>
            <a:ext cx="6370072" cy="1729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using Spark DataFrames and UDFs.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1049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A-87A6-11CF-FF94-4DC80D5DC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D4AF-DB7C-879A-278F-F53D3A019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97F89-F5F9-FD9D-6E5E-FD984028F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FF31C1-90D4-70E1-9404-D880FC5AE2DB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 bwMode="auto">
          <a:xfrm>
            <a:off x="738555" y="1619610"/>
            <a:ext cx="6365630" cy="4714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10462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FD299-72E8-32FA-9D28-D4053D84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92E7-EADF-6D93-7819-3887E731F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FE42F-FE68-B31C-95EA-C195ECEC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50B5F98-8DB6-47BC-15B5-88A5BA2BC05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847754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 frequency analysis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N-gram frequency analysis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Vocabulary richness (TTR)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Corpus statistics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050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9E1D-3B49-50C8-DE8D-1041A8EE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DA2F-E56D-16B6-D544-004CBF3A0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9E2C7-CAF7-82CF-EE3C-84A999AD0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9D6EBCC-818C-8153-5095-7768DA42C791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2097634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Words: 3,937,653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Words: 23,130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TTR: 0.00587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093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76651-2887-3360-0F14-01EE4120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5824B-B28B-EC9D-E772-C5B9A086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31CED-DDC1-45C6-F505-F2C582124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38D2F0E-18EE-DD14-3EE8-D519A3320CD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3386636"/>
            <a:ext cx="6370072" cy="1114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46D86F-5972-BD4D-A6DD-3B52ADAB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6" y="2488745"/>
            <a:ext cx="7089942" cy="25697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61509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77017-D7CF-1BB3-5CAC-6204F474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3E0D-1EC2-8873-C090-D4C66FE2E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1184C-45E5-B747-8775-EFBE0259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BD8C28F-9AEE-F413-69EE-566D1014A7C8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54754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Stylometric Features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6 → Multiple elongations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29 → Semicolon frequency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52 → Arabic interjections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75 → Active voice approximation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98 → Simplified BERT representation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3913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7B9E2-A20A-C220-1FB4-52B22A79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EFEF1-70ED-FB03-4335-30796488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9C59AE-6E1B-8EA7-A133-F926F5292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ACBE9BC-C099-DA89-2025-2E52E75618BE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855322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Feature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representation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Feature Vector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10,000 TF-IDF features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stylometric features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= 10,005 features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583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687D5-317D-49D9-4CA0-4E97EC78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C584A-6586-276A-C210-FBD91B896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51CFC-6A47-ADD2-293E-EAA98517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568BCFE-CBE0-10C7-9A00-CAD5E202A7B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624490"/>
            <a:ext cx="6370072" cy="4653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Machine Learning Models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Implemented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 (SVM) </a:t>
            </a:r>
          </a:p>
          <a:p>
            <a:pPr>
              <a:lnSpc>
                <a:spcPct val="150000"/>
              </a:lnSpc>
            </a:pP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354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FD884-932F-4CC6-0782-67DAEE12B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36505-A7C3-4938-A71C-CFA8014EE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AAAEB6-7517-FB9A-088B-0AF8A9C3D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93866B7-5C17-7889-1A85-0895727468EC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799492"/>
            <a:ext cx="6370072" cy="4038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Split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= 70%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 = 15%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= 15%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MLlib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implemented using Spark MLlib distributed framework.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282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DF40D-4311-E49C-51BA-2397AD5C2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191EC-ECEE-14EC-733B-BB09CE7A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Results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D764D-FECE-4C38-D69E-8EB23C65F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43ED334-103E-AEAB-4C0C-E4F0BCA1B4D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1942585"/>
            <a:ext cx="6370072" cy="1114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D66198-AA11-1924-9103-7057F834F9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367823"/>
              </p:ext>
            </p:extLst>
          </p:nvPr>
        </p:nvGraphicFramePr>
        <p:xfrm>
          <a:off x="682459" y="2816763"/>
          <a:ext cx="6601597" cy="2963326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2085706">
                  <a:extLst>
                    <a:ext uri="{9D8B030D-6E8A-4147-A177-3AD203B41FA5}">
                      <a16:colId xmlns:a16="http://schemas.microsoft.com/office/drawing/2014/main" val="3590475269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3511791885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204424172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2789293755"/>
                    </a:ext>
                  </a:extLst>
                </a:gridCol>
              </a:tblGrid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Accuracy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F1-score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ROC-AUC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75296814"/>
                  </a:ext>
                </a:extLst>
              </a:tr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Logistic Regression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0.965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0.966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0.982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14788958"/>
                  </a:ext>
                </a:extLst>
              </a:tr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Random Forest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0.801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0.714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0.946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48345984"/>
                  </a:ext>
                </a:extLst>
              </a:tr>
              <a:tr h="107100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SVM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0.973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0.973</a:t>
                      </a:r>
                      <a:endParaRPr lang="en-US" sz="14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0.991</a:t>
                      </a:r>
                      <a:endParaRPr lang="en-US" sz="14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21371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666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FD9E1-64C9-AE76-B4F4-8AF92E93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14D55-E950-FECE-16EA-B2DE7612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Results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B9F55-8866-BB75-FE40-AAC61B7F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188BEDA-E75E-3145-93FA-B7229B65DC2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2564116"/>
            <a:ext cx="6370072" cy="1729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 (SVM)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774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2599B-AEFB-2A40-A013-2402A5F2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18D2D-C900-36EE-AC46-BD7BC86BC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79AD2-F941-8564-4C9A-AB688130C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AB83295-27A9-2305-73D1-200D91B90282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1409955"/>
            <a:ext cx="6370072" cy="4038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produced lowest false positives.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also performed strongly.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underperformed on sparse TF-IDF vectors.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889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0178B-07F8-D52B-F0F2-0A1F1C49D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4646-F12B-7676-4273-7B2F65E40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5655-392D-E141-8347-366E2F29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8C427-BE81-AA7F-B335-69C07F50B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58" y="1161543"/>
            <a:ext cx="4983461" cy="2533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 descr="Logistic Regression Confusion Matrix">
            <a:extLst>
              <a:ext uri="{FF2B5EF4-FFF2-40B4-BE49-F238E27FC236}">
                <a16:creationId xmlns:a16="http://schemas.microsoft.com/office/drawing/2014/main" id="{3D283E7F-5CD7-506D-254A-3657E8A2C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821" y="2437441"/>
            <a:ext cx="5013928" cy="416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0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3BEA-5AB9-10FC-A5AE-A2D024CF0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00CE7-0796-2E2F-3541-679FBB03F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F7E43-CA83-5662-D4D6-A6572FB39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172F71-3355-D51C-5F9B-EC06562FB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" y="1161542"/>
            <a:ext cx="4991809" cy="247402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 descr="Random Forest Confusion Matrix">
            <a:extLst>
              <a:ext uri="{FF2B5EF4-FFF2-40B4-BE49-F238E27FC236}">
                <a16:creationId xmlns:a16="http://schemas.microsoft.com/office/drawing/2014/main" id="{B0FE41B2-72C4-1B5A-6656-7B5D2527C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939" y="2437441"/>
            <a:ext cx="4991809" cy="416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81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AE58-07CB-CC49-E7F2-A02A66D8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E8B2-F188-F4C8-9F02-770C423F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A3E4D-58ED-9213-7BAD-5B617484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3641EE-7485-E1FB-596E-0C292E0F8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58" y="1170709"/>
            <a:ext cx="4012634" cy="2533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 descr="Svm Confusion Matrix">
            <a:extLst>
              <a:ext uri="{FF2B5EF4-FFF2-40B4-BE49-F238E27FC236}">
                <a16:creationId xmlns:a16="http://schemas.microsoft.com/office/drawing/2014/main" id="{9EFE2495-5B89-3715-96B5-91D560716C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402" y="2446607"/>
            <a:ext cx="5030347" cy="415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307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60F8A-240D-97E0-1059-8744EF5D7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9463F-2BED-4C7A-48AC-9AB4BDB3A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 curve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58E5A-3880-0531-CFC7-B9BA3EAB9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B9743A-DEE6-0E8D-7579-83BE2A071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6" y="1145670"/>
            <a:ext cx="7190343" cy="55745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25151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3CC42-EFD6-7C5F-1CD3-8B1AC96F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AA42-38AE-8EC2-6276-1BF537B24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Streaming Pipeline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1CA5FD-CCCE-853C-50E2-FFEE78AF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AECE38D-1456-230B-631F-F7709C8EA9A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912670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Simulation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File-based streaming source.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Arabic text ingestion.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Deployment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model deployed for live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 pipeline implemented.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551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C18A-8343-1AC0-4793-43EDC4F67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1C33-7E02-178C-724B-0B7749C6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Batch vs Stream Comparison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AF60A-D276-4DE0-DD06-D16FA2471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3C5F0EA-6FA5-274B-EBFA-9C51CBED546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05046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throughput for large datasets.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prediction time ≈ 32 seconds.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 real-time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Micro-batch latency observed.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874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297C-6115-BC10-C7EC-379D6EB7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C1439-14CE-7B64-7C3A-0FFAE0672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Batch vs Stream Comparison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F6BD4-4087-8713-2998-0CB193A8A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616696B-0DC0-9D09-6CB2-4B0C10CC0DA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141147"/>
            <a:ext cx="6370072" cy="1287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  <a:p>
            <a:pPr>
              <a:lnSpc>
                <a:spcPct val="150000"/>
              </a:lnSpc>
            </a:pPr>
            <a:endParaRPr kumimoji="0" lang="en-US" altLang="en-US" sz="24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9700DE8-0473-EA4F-73C3-B12A2B053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65205"/>
              </p:ext>
            </p:extLst>
          </p:nvPr>
        </p:nvGraphicFramePr>
        <p:xfrm>
          <a:off x="559366" y="2930486"/>
          <a:ext cx="6656682" cy="3424592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328341">
                  <a:extLst>
                    <a:ext uri="{9D8B030D-6E8A-4147-A177-3AD203B41FA5}">
                      <a16:colId xmlns:a16="http://schemas.microsoft.com/office/drawing/2014/main" val="3286955579"/>
                    </a:ext>
                  </a:extLst>
                </a:gridCol>
                <a:gridCol w="3328341">
                  <a:extLst>
                    <a:ext uri="{9D8B030D-6E8A-4147-A177-3AD203B41FA5}">
                      <a16:colId xmlns:a16="http://schemas.microsoft.com/office/drawing/2014/main" val="3656418573"/>
                    </a:ext>
                  </a:extLst>
                </a:gridCol>
              </a:tblGrid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Batch Processing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Stream Processing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2985722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Offline analytics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Real-time analytics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178940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Higher throughput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Lower latency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8855922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Large-scale execution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Continuous prediction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98226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82892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B7D93-9410-6BBD-C1C8-6C641FA0A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17A1-CD6D-8CA6-5391-21A119956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D2B23-884F-9E85-75DC-D679CC3ED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ED981EF-0F69-4654-D9A5-D351FF913CEA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287996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Coefficients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coefficients extracted.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coefficients linked with AI-generated text.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coefficients linked with human-written text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3705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21F47-1A64-8066-D9B2-781C5688B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CCD67-096E-A67E-8447-3B41393BD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52AA4-89C4-57B1-2DCE-06249C426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90CD34B-EA6F-F5DB-3EB2-82BBB7391750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685800" y="2263406"/>
            <a:ext cx="6506307" cy="37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391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F4B7-4D6E-64BE-1086-F4D4A16F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3606-E8CB-7374-ABB7-9ECFA176C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B681D-44BC-7654-0774-A93E0F56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4AFD4FB-DE46-0C1D-0058-404D2432BC33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672443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NLP complexity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Sparse high-dimensional vectors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environment setup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 overhead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550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C154-9A35-14A6-95DF-90AAAE8E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A1D23-7C33-79CE-45AF-523DC48E2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D8706-59C6-6A81-CBD1-689385681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2C484A8-990A-123E-50CD-D5C376C565D2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083457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BERT approximation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File-based streaming instead of Kafka cluster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advanced Arabic parsing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9287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1C0E-5D98-F761-E7F2-E730027C1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2D2BB-7859-14F1-4AA6-9965CCEDA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5F80D-AD7F-55B0-BD08-C12987D2A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48F19-D66C-BE2C-8A33-5D907B532BAB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799492"/>
            <a:ext cx="6370072" cy="3884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scalable Arabic AI-text detection pipeline.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distributed preprocessing and machine learning.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Spark Structured Streaming.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achieved best overall performance.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24633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18F4A-841C-B1DC-EAC9-C4F64E41F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5CC6-1D91-7AAF-8419-256C18AA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9B5AB-A37D-DE06-56F9-505C9F785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729D1AB-ED41-9805-BDBB-3C4E67901B74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799492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Best 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= 97.3%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 = 97.3%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ROC-AUC = 99.1%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3794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41A3-C67E-3058-EAC9-4AD868E4A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0F92C-6DE0-12E7-4365-EC7E6B532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19B1-3AB1-93DF-60D6-1E859B799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DDF7A8B-A2A8-D6BF-1789-3BD7FA32B19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491716"/>
            <a:ext cx="6370072" cy="3576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Kafka integration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transformer embeddings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architectures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distributed cluster deployment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Arabic morphological analysis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1294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02F2E-9E02-7A5A-1523-33048740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217D1-AB7C-C1D3-0A82-871612355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508882"/>
            <a:ext cx="9784348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0BB4B-6882-8792-0112-98298F35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F115-A532-C5F9-F070-CB7A08ECF5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19" y="1378740"/>
            <a:ext cx="7987228" cy="51552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Documentation. https://spark.apache.org/docs/latest/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Bird, S., Klein, E., &amp; Loper, E. (2009).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 processing with Python: analyzing text with the natural language toolkit. " O'Reilly Media, Inc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.".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Breiman, L. (2001). Random forests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Machine learning, 45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(1), 5-32.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Cortes, C., &amp; Vapnik, V. (1995). Support-vector networks.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learning, 20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273-297.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Dean, J., &amp; Ghemawat, S. (2008). MapReduce: simplified data processing on large clusters.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of the ACM, 51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(1), 107-113.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Devlin, J., Chang, M. W., Lee, K., &amp; Toutanova, K. (2019, June).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Bert: Pre-training of deep bidirectional transformers for language understanding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Proceedings of the 2019 conference of the North American chapter of the association for computational linguistics: human language technologies, volume 1 (long and short papers) (pp. 4171-4186).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Hugging Face Datasets Documentation. https://huggingface.co/docs/datasets/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Jurafsky, D., &amp; Martin, J. H. (2023).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and language processing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3rd edn. draft.</a:t>
            </a:r>
          </a:p>
        </p:txBody>
      </p:sp>
    </p:spTree>
    <p:extLst>
      <p:ext uri="{BB962C8B-B14F-4D97-AF65-F5344CB8AC3E}">
        <p14:creationId xmlns:p14="http://schemas.microsoft.com/office/powerpoint/2010/main" val="13364919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81284-A19A-FE3D-CD2B-3698D886E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6DB4B-AA48-6B38-DDEF-99AAC12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508882"/>
            <a:ext cx="9784348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985EA-42E6-49D5-B156-7464AD13C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6D9C69-4DF0-5B3E-8E2A-31C0A800B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19" y="1371045"/>
            <a:ext cx="7987228" cy="5170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KFUPM-JRCAI Arabic Generated Abstracts Dataset. https://huggingface.co/datasets/KFUPM-JRCAI/arabic-generated-abstracts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Manning, C. D. (2008).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information retrieval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Syngress Publishing.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Mikolov, T., Chen, K., Corrado, G., &amp; Dean, J. (2013). Efficient estimation of word representations in vector space.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preprint arXiv:1301.3781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Pedregosa, F., Varoquaux, G., Gramfort, A., Michel, V., Thirion, B., Grisel, O., ... &amp; Duchesnay, É. (2011). Scikit-learn: Machine learning in Python.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Journal of machine Learning research, 12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2825-2830.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Salloum, S., Dautov, R., Chen, X., Peng, P. X., &amp; Huang, J. Z. (2016). Big data analytics on Apache Spark.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Data Science and Analytics, 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145-164.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Salton, G., &amp; Buckley, C. (1988). Term-weighting approaches in automatic text retrieval.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processing &amp; management, 24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(5), 513-523.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Zaharia, M., Chowdhury, M., Franklin, M. J., Shenker, S., &amp; Stoica, I. (2010). Spark: Cluster computing with working sets. In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2nd USENIX workshop on hot topics in cloud computing (HotCloud 10).</a:t>
            </a:r>
          </a:p>
        </p:txBody>
      </p:sp>
    </p:spTree>
    <p:extLst>
      <p:ext uri="{BB962C8B-B14F-4D97-AF65-F5344CB8AC3E}">
        <p14:creationId xmlns:p14="http://schemas.microsoft.com/office/powerpoint/2010/main" val="1528485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DD25-4AF5-2C11-35F4-420BD63D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D928B-D8DD-4019-6D78-8B2C7C24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E4432-72BF-5A6E-022F-86BB04770448}"/>
              </a:ext>
            </a:extLst>
          </p:cNvPr>
          <p:cNvSpPr txBox="1"/>
          <p:nvPr/>
        </p:nvSpPr>
        <p:spPr>
          <a:xfrm>
            <a:off x="765109" y="2470746"/>
            <a:ext cx="550506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1CAB59-54C3-CFDE-025F-9696EA90A977}"/>
              </a:ext>
            </a:extLst>
          </p:cNvPr>
          <p:cNvSpPr txBox="1"/>
          <p:nvPr/>
        </p:nvSpPr>
        <p:spPr>
          <a:xfrm>
            <a:off x="1219200" y="3779521"/>
            <a:ext cx="462176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13903343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{2DF4A821-7E98-418A-B50D-26D924C75F5F}TF55c86556-70ea-476e-aa05-13a38f2d5b0da1381d77_win32-a3c664429073</Template>
  <TotalTime>53</TotalTime>
  <Words>1237</Words>
  <Application>Microsoft Office PowerPoint</Application>
  <PresentationFormat>Widescreen</PresentationFormat>
  <Paragraphs>306</Paragraphs>
  <Slides>40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Aptos</vt:lpstr>
      <vt:lpstr>Arial</vt:lpstr>
      <vt:lpstr>Avenir Next LT Pro</vt:lpstr>
      <vt:lpstr>Calibri</vt:lpstr>
      <vt:lpstr>Times New Roman</vt:lpstr>
      <vt:lpstr>Custom</vt:lpstr>
      <vt:lpstr>Scalable Real-time Detection of AI-Generated Arabic Text A Distributed Data Pipeline Approach </vt:lpstr>
      <vt:lpstr>Problem Statement</vt:lpstr>
      <vt:lpstr>Problem Statement</vt:lpstr>
      <vt:lpstr>Project Objectives </vt:lpstr>
      <vt:lpstr>Dataset Description</vt:lpstr>
      <vt:lpstr>Dataset Description</vt:lpstr>
      <vt:lpstr>Dataset Description</vt:lpstr>
      <vt:lpstr>Big Data Architecture</vt:lpstr>
      <vt:lpstr>Big Data Architecture</vt:lpstr>
      <vt:lpstr>Big Data Architecture</vt:lpstr>
      <vt:lpstr>Arabic Text Preprocessing</vt:lpstr>
      <vt:lpstr>Arabic Text Preprocessing</vt:lpstr>
      <vt:lpstr>Arabic Text Preprocessing</vt:lpstr>
      <vt:lpstr>Exploratory Data Analysis</vt:lpstr>
      <vt:lpstr>Exploratory Data Analysis</vt:lpstr>
      <vt:lpstr>Exploratory Data Analysis</vt:lpstr>
      <vt:lpstr>Feature Engineering</vt:lpstr>
      <vt:lpstr>Feature Engineering</vt:lpstr>
      <vt:lpstr>Machine Learning Models</vt:lpstr>
      <vt:lpstr>Machine Learning Models</vt:lpstr>
      <vt:lpstr>Model Performance Results</vt:lpstr>
      <vt:lpstr>Model Performance Results</vt:lpstr>
      <vt:lpstr>Confusion Matrix Analysis</vt:lpstr>
      <vt:lpstr>Confusion Matrix Analysis</vt:lpstr>
      <vt:lpstr>Confusion Matrix Analysis</vt:lpstr>
      <vt:lpstr>Confusion Matrix Analysis</vt:lpstr>
      <vt:lpstr>ROC curve</vt:lpstr>
      <vt:lpstr>Real-Time Streaming Pipeline</vt:lpstr>
      <vt:lpstr>Scalability &amp; Batch vs Stream Comparison</vt:lpstr>
      <vt:lpstr>Scalability &amp; Batch vs Stream Comparison</vt:lpstr>
      <vt:lpstr>Feature Importance Analysis</vt:lpstr>
      <vt:lpstr>Feature Importance Analysis</vt:lpstr>
      <vt:lpstr>Challenges &amp; Limitations</vt:lpstr>
      <vt:lpstr>Challenges &amp; Limitations</vt:lpstr>
      <vt:lpstr>Conclusion</vt:lpstr>
      <vt:lpstr>Conclusion</vt:lpstr>
      <vt:lpstr>Future Work</vt:lpstr>
      <vt:lpstr>References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Sami Almoadawi</cp:lastModifiedBy>
  <cp:revision>1</cp:revision>
  <dcterms:created xsi:type="dcterms:W3CDTF">2026-05-08T07:55:06Z</dcterms:created>
  <dcterms:modified xsi:type="dcterms:W3CDTF">2026-05-20T18:25:36Z</dcterms:modified>
</cp:coreProperties>
</file>