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13" r:id="rId2"/>
    <p:sldId id="264" r:id="rId3"/>
    <p:sldId id="373" r:id="rId4"/>
    <p:sldId id="37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4" r:id="rId24"/>
    <p:sldId id="395" r:id="rId25"/>
    <p:sldId id="408" r:id="rId26"/>
    <p:sldId id="409" r:id="rId27"/>
    <p:sldId id="396" r:id="rId28"/>
    <p:sldId id="398" r:id="rId29"/>
    <p:sldId id="399" r:id="rId30"/>
    <p:sldId id="401" r:id="rId31"/>
    <p:sldId id="402" r:id="rId32"/>
    <p:sldId id="403" r:id="rId33"/>
    <p:sldId id="404" r:id="rId34"/>
    <p:sldId id="405" r:id="rId35"/>
    <p:sldId id="406" r:id="rId36"/>
    <p:sldId id="40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8544" autoAdjust="0"/>
  </p:normalViewPr>
  <p:slideViewPr>
    <p:cSldViewPr snapToGrid="0">
      <p:cViewPr varScale="1">
        <p:scale>
          <a:sx n="65" d="100"/>
          <a:sy n="65" d="100"/>
        </p:scale>
        <p:origin x="1358" y="3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8471-8596-C832-E141-A2B8EA76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61C13-57FB-23EA-D7FF-65AA25864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48B0A-1B95-BF89-4EE2-6DEE5C292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7347B-D4C3-1313-C8F6-E5E5976C9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59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BA1FA-48E1-F5F9-9C45-585C175C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2F909-5433-DEB0-C4FA-A785947CB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BE97F-FC3D-EA6E-DF87-9945B92F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49441-7F68-A095-755A-0CDDDA02B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67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30BA-54CD-162F-2148-4262DFC5C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9B621-3FFE-A932-4CB4-7387A903C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117BC-670C-A6F3-2401-577305E0D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7C27D-06E3-F591-C504-0E6430014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24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20DB7-BF83-A718-ED46-E812A27F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0CC1D-7750-CF92-567F-37142EAD8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EA5BB-5203-905E-90EF-CCBE2BCD5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D5D56-61A5-A06E-7A80-70B828931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77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EACE6-729E-639D-407A-C2667AE2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DDF0F-2E7A-E2B1-87A7-F437A1EB3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5253F-5739-7B4A-C225-EC7EF878F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A7E74-9A60-D81B-BB86-A3FC09CE4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311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2837-5E7B-6580-89E2-62E47FBF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0CCF4-D431-0FAA-E25F-33DDD5602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3C72D-3522-9C22-FCDC-973432B85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48E9F-8D55-2DD9-E6A8-1526B7D1C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61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3F79-8442-188B-62ED-189CFDC6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25631-B65F-256C-31A9-E3CE50389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0888E-EF27-078F-1E5C-47B0D04B8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1605-83A4-3DD2-1432-FB5E5D308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026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E72A-A604-203F-9BA5-755D0D26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5BCD2-3090-33BA-5680-BFB351219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121BD-DF4F-9098-6500-40C3B6C6A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A3171-8272-1671-5FA6-F82161D87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678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A01C-66DE-4C70-7754-1F2CE1EDB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09F0E-4C79-9528-19AF-F339EA23F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1D4EA-14E4-B209-4220-12BE0B921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4D429-34A9-4004-9C99-10CAF138C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86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54E3B-A431-77C7-58F5-162A374B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47566-7D2A-9AB5-CD19-B327A87BC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DCB20-BC6A-CA73-F27B-FACEB55F3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A3990-85ED-D342-91B1-5F8A5D221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341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23203-27B2-593B-2DCE-21725E5B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A582E-AA15-56C4-170C-964C7C63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D87B2-10EF-0615-2331-BD9C07956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CEF2D-5A69-A3D2-4201-DA9F59EB5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565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EAC7-941F-5CBE-7E7C-CB40DA49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99FB6-A018-0AD8-5F1A-3EF1974F1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9C1AE-3D3E-6826-D62D-B40AE1519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FAD80-567D-C189-7711-ED1BD52B3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820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8280-EB27-A21C-F2A7-E4A416B1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958B3-5BA6-9B40-51F8-641C82E93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0AB5E-70BB-3D53-0082-4D27DAA9D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B97BA-9A90-E060-96FB-87E2D62DF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5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7641-23AE-D6B3-F16F-1E99BA43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F8F72-A016-8950-E841-1F274B718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87FEE-DF2A-2274-41D5-23B32ED91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36515-8E3A-5311-1481-679A8C670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235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5AF9-911B-2726-314D-434BB6A9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93B3E-B659-DF43-5640-19EDD95E3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E1825-DEA7-C0E1-8E4C-666317A49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D2471-CBE3-04BB-DB7B-A3A179EAB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286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2B58-7B0B-9D54-B615-8BF4D471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754A6-8C94-8EE1-325C-16D2A24C5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9385-ABB1-583F-8A8E-9904649FB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784CA-BC16-E271-A53B-6D49F6D08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977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2E9A-8546-32BE-3DF1-935184B8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B56B0-9245-094F-3996-F6FCD72A7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3A05F-43B5-FDFB-3D19-C092D06F4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938A7-9DC1-97FA-CA43-C7254DA93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5464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C0A4E-E76A-A8FD-70EB-BEF63BCBC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20804-D1E7-A09E-AD92-A4F7B787D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91717-F060-1709-D3EB-AADD6E294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3BFC8-99BA-E0E2-3CB1-6EED31BE1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793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444A-112D-1767-9D9D-B0C7B746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D9C8B-BA26-883F-A96F-1E8B7C624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B8A51-E974-2509-E7F0-9E61C4D21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BE069-9587-95A7-6212-F4F4A224F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554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CCCFA-F18C-3DDA-88FA-22669BFA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0D8A7-33AA-264C-8FAD-22E5F29DF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4586D-4A2E-21DE-8951-A12934295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D71A7-DE4D-7DB1-BD93-A1341BDDD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390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C3A93-09E6-1635-02DB-283AF144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A781C-3EC7-CD7A-4F43-B99BF9578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66E4C-920F-78B5-B05F-066AC9160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B9878-1801-40BC-1E65-7AD05A945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13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E9D2-322C-CE42-413C-CA2FAF98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6DC62-F79B-68F0-E08A-CD5768403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D8AB7-6265-B1CC-4ADE-CEE26080E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A3407-95E1-A934-2FDB-36EF81366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335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DC22-F8DF-8A79-12F5-279DE3E8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09AB02-2F37-8034-F97A-6CFBA307C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999D9-C670-9777-2F8B-E9BEFAC6D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C8DF7-D6B8-8978-1153-02FADD91F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9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2FA27-6C8E-5FDB-8E9B-5E3F4190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0E029-20B3-A48C-E893-94D9E50E6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D3F92-EB3E-9FAB-B90A-B67120BB2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0083A-5739-FBF7-9572-E40EC9557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322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70245-A8E4-58A4-FD5F-71876813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77B0A-1CD7-F14D-3FEC-D631EA063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2629F-7500-B90B-CD34-1CAB088C9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AB77B-35B1-0ADF-FA00-0BDCDD0AD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79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86A8-201B-97CF-441B-8C42FC1F5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A58DE-9D19-18E9-CA76-781C9FC71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DB001-28BF-67BE-5890-F9DBD9D58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C0DD5-7CB8-FECD-6B3E-1689225EB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3807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8F89-0708-AF2E-2B34-3516DAA2F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726E6-CD6B-D1FE-E0E9-8B954F483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92998-8D3D-81AF-7AD2-72C35B198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FEECC-669B-C7AE-D64F-8345E9AB0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4426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6F1E-5ED9-618C-11C6-BAEA3461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2A68D-0FB7-A1C4-DFA7-EB2E29E3F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6F1E3-BD6E-4F1E-8C4E-31A0A1079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90C2F-093D-DEDD-1338-24BBF7F06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092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591D-197C-90A5-B07E-94DEE1D0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907EE-AE8A-5672-BDA2-BD4336B4C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69194-771E-4C7F-EB78-558334F89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91C2E-32F6-F505-1A92-21EA3B474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288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567E-4F84-9E1A-D1C0-2E593420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A868E-F4E6-6A3F-2CD7-3AACC3772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92A5F-EA6C-73D3-5D38-46D704677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AA445-16DB-C771-E6A0-773F95D66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274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1502-8C27-19AA-65CB-C0EFDE29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E755C-8C72-028A-122B-27D06275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E4F5C-1CAC-59B9-CA1C-6941DBE09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3B674-C84A-5D74-EC2C-338AF6D04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9854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5925D-DF3E-6E14-905F-6207996AD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D3152-6B1B-C24D-273A-A11957EAA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81F70-F64F-3F29-1021-1D2C40541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DA929-9FD3-E6E3-790E-498C93796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507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5D18-F263-BF2D-2E05-4CB41F2C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79F45-7677-9188-0DCA-973EC0946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A8ECD-3B77-5141-4147-45060CC1C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A807D-3F38-F6C8-A8EE-F5597FD31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299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78DB-FC09-AF7F-7CE0-92A48EDD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C07B5-E497-863E-9AC0-E5B80FB21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696A4-E01C-E227-FEB1-68FDC5660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43F15-A77F-849C-DE57-14E3E0BF9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5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4C7C-760E-8914-2F73-459EB4E7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4490" y="1466898"/>
            <a:ext cx="9291483" cy="1415844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Real-time Detection of AI-Generated Arabic Text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Data Pipeline Approach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E281F-A142-3008-1081-8504F2E49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1066" y="3085695"/>
            <a:ext cx="6094907" cy="3316240"/>
          </a:xfrm>
        </p:spPr>
        <p:txBody>
          <a:bodyPr>
            <a:noAutofit/>
          </a:bodyPr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MSBDA-801 Big Data Analytics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Type: Final Course Graduation Team Project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Spark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Structured Streaming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83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8D866ED-E4C0-9855-7F94-8203A5C0CB5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539973"/>
            <a:ext cx="6370072" cy="48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AI-generated Arabic text.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detecting machine-generated content.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related to: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content generation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7960-187F-76C9-E048-C15ED44FA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23ED-D41B-7606-A57D-CC1AF851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8F9E9-40F3-B852-A68B-DDE45D57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732B2BF-1F0D-2A78-D9C3-F10B22E3EC9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676400"/>
            <a:ext cx="6370072" cy="289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scalable distributed pipeline capable of detecting AI-generated Arabic abstracts using Big Data technologies.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32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AA14-BC54-A3CD-6C98-D71A7EDB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1B53-FC08-1875-0421-B54F64571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A3F23-BB4E-1E72-6605-651778DE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D0522C-C385-D10D-B92E-17875612A40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539974"/>
            <a:ext cx="6370072" cy="48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distributed Arabic NLP pipeline.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Arabic-specific preprocessing.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scalable feature engineering.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multiple machine learning models.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best model using Spark Structured Streaming.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batch vs stream processing.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scalability and performance.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57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BA613-87ED-DEDB-A910-29191EB56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3707-C60D-AE85-64D3-D4E22BE7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3C00C-F348-9E49-1D3A-4E732374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006ACD-4531-F437-57F7-5D8B0D1DE4E7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832362"/>
            <a:ext cx="6370072" cy="4222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KFUPM-JRCAI Arabic Generated Abstracts Dataset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(Hugging Face)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subsets: 3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combined samples: ~41,940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2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1874-5F92-EBBF-AE89-B9961CE8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E557-E694-533D-BEFA-1BB20271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E0EA2-CEA0-1FDC-61BE-901F6F75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B277CA-F066-DF05-901B-1CA1EDC12700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447642"/>
            <a:ext cx="6370072" cy="49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Classes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Human-written abstracts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abstracts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Included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ALLAM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25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9121-7DA8-30E9-E0BF-BE0EE67FF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45EA-2F27-93DE-9177-DF22FB5E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F5F3C-7C90-4223-B9BE-63408C08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CC2E0D-55B6-A599-BCA8-577EB1E25E86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 bwMode="auto">
          <a:xfrm>
            <a:off x="750674" y="1336431"/>
            <a:ext cx="6230418" cy="4747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554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0FD6B-5B4A-0BA1-F15E-04E0A594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CEE5-6F65-D83A-7762-F61F7142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AF73-0875-089D-AC93-152E0340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F3D36F-7BA2-EC7B-B738-468D9163369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539975"/>
            <a:ext cx="6370072" cy="48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Pipeline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Structured Streaming </a:t>
            </a:r>
          </a:p>
          <a:p>
            <a:pPr algn="just"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05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A77B6-D8F3-9D1A-6D31-0FABC076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454A-AD51-5FB6-2776-E15E3229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5A37A-1B01-24E0-9FB0-A520969E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525D9A4-4802-985F-2093-5C48F7CAFEB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493810"/>
            <a:ext cx="6370072" cy="4899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Stages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Modeling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Deployment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Benchmarking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14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9A36-DD72-70EA-58B4-AF92E6B3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CA01-AB32-B42A-C3CB-114CDF1DA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66" y="400502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D807F-D963-3DEC-C4A6-AD0A1662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B7E756-0F71-3E8D-DEC4-23DA254154EA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 bwMode="auto">
          <a:xfrm>
            <a:off x="2286001" y="1314632"/>
            <a:ext cx="3598984" cy="5058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978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E23C-C151-C7F5-1EA7-4FF368F1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11A3-CF09-BAFC-671C-5C79ACAD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Arabic Text Preprocessing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69658-6A12-46F3-B46C-D672FA11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81BD062-E5D4-AB18-7B3D-C7A951EED81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539977"/>
            <a:ext cx="6370072" cy="48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Arabic NLP Preprocessing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Techniques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Arabic normalization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Diacritics removal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stemming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 cleaning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62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08E8-0BDA-0AAE-EF4A-60DFAFC5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AEA8-7334-2FAE-AD47-B1A5FC87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Arabic Text Preprocessing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93D08-9D80-221D-D2DE-B19117AC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1079577-CCC0-8791-F8BC-3DF33A235F8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35212" y="2238402"/>
            <a:ext cx="6370072" cy="172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Spark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UDFs.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49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861A-87A6-11CF-FF94-4DC80D5D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D4AF-DB7C-879A-278F-F53D3A01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Arabic Text Preprocessing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97F89-F5F9-FD9D-6E5E-FD984028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FF31C1-90D4-70E1-9404-D880FC5AE2DB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 bwMode="auto">
          <a:xfrm>
            <a:off x="738555" y="1619610"/>
            <a:ext cx="6365630" cy="4714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0462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D299-72E8-32FA-9D28-D4053D84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92E7-EADF-6D93-7819-3887E73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E42F-FE68-B31C-95EA-C195ECEC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0B5F98-8DB6-47BC-15B5-88A5BA2BC05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1847754"/>
            <a:ext cx="6370072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N-gram frequency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richness (TTR)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Corpus statistics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050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9E1D-3B49-50C8-DE8D-1041A8EE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DA2F-E56D-16B6-D544-004CBF3A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E2C7-CAF7-82CF-EE3C-84A999AD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D6EBCC-818C-8153-5095-7768DA42C791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2097634"/>
            <a:ext cx="6370072" cy="29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Words: 3,937,653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Words: 23,130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TTR: 0.00587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093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6651-2887-3360-0F14-01EE4120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5824B-B28B-EC9D-E772-C5B9A086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31CED-DDC1-45C6-F505-F2C58212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8D2F0E-18EE-DD14-3EE8-D519A3320CD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87966" y="3386636"/>
            <a:ext cx="6370072" cy="111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6D86F-5972-BD4D-A6DD-3B52ADAB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66" y="2488745"/>
            <a:ext cx="7089942" cy="256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09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7017-D7CF-1BB3-5CAC-6204F4740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3E0D-1EC2-8873-C090-D4C66FE2E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1184C-45E5-B747-8775-EFBE0259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D8C28F-9AEE-F413-69EE-566D1014A7C8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23136" y="1547545"/>
            <a:ext cx="6370072" cy="48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Stylometric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6 → Multiple elongations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29 → Semicolon frequency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52 → Arabic interjections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75 → Active voice approximation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98 → Simplified BERT representation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391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7B9E2-A20A-C220-1FB4-52B22A79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FEF1-70ED-FB03-4335-30796488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59AE-6E1B-8EA7-A133-F926F529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BE9BC-C099-DA89-2025-2E52E75618BE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23136" y="1855322"/>
            <a:ext cx="6370072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representation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Feature Vector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TF-IDF features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stylometric features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= 10,005 features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583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87D5-317D-49D9-4CA0-4E97EC78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584A-6586-276A-C210-FBD91B896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51CFC-6A47-ADD2-293E-EAA98517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68BCFE-CBE0-10C7-9A00-CAD5E202A7B7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23136" y="1624490"/>
            <a:ext cx="637007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Machine Learning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Implemented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</a:t>
            </a:r>
          </a:p>
          <a:p>
            <a:pPr>
              <a:lnSpc>
                <a:spcPct val="15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354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FD884-932F-4CC6-0782-67DAEE12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6505-A7C3-4938-A71C-CFA8014EE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AAEB6-7517-FB9A-088B-0AF8A9C3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93866B7-5C17-7889-1A85-0895727468EC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23136" y="1799492"/>
            <a:ext cx="6370072" cy="4038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= 70%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= 15%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= 15%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implemented using Spark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framework.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28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F40D-4311-E49C-51BA-2397AD5C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91EC-ECEE-14EC-733B-BB09CE7A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764D-FECE-4C38-D69E-8EB23C65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3ED334-103E-AEAB-4C0C-E4F0BCA1B4D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82459" y="1942585"/>
            <a:ext cx="6370072" cy="111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D66198-AA11-1924-9103-7057F834F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48817"/>
              </p:ext>
            </p:extLst>
          </p:nvPr>
        </p:nvGraphicFramePr>
        <p:xfrm>
          <a:off x="682458" y="2778369"/>
          <a:ext cx="6370072" cy="279595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12557">
                  <a:extLst>
                    <a:ext uri="{9D8B030D-6E8A-4147-A177-3AD203B41FA5}">
                      <a16:colId xmlns:a16="http://schemas.microsoft.com/office/drawing/2014/main" val="3590475269"/>
                    </a:ext>
                  </a:extLst>
                </a:gridCol>
                <a:gridCol w="1452505">
                  <a:extLst>
                    <a:ext uri="{9D8B030D-6E8A-4147-A177-3AD203B41FA5}">
                      <a16:colId xmlns:a16="http://schemas.microsoft.com/office/drawing/2014/main" val="3511791885"/>
                    </a:ext>
                  </a:extLst>
                </a:gridCol>
                <a:gridCol w="1452505">
                  <a:extLst>
                    <a:ext uri="{9D8B030D-6E8A-4147-A177-3AD203B41FA5}">
                      <a16:colId xmlns:a16="http://schemas.microsoft.com/office/drawing/2014/main" val="204424172"/>
                    </a:ext>
                  </a:extLst>
                </a:gridCol>
                <a:gridCol w="1452505">
                  <a:extLst>
                    <a:ext uri="{9D8B030D-6E8A-4147-A177-3AD203B41FA5}">
                      <a16:colId xmlns:a16="http://schemas.microsoft.com/office/drawing/2014/main" val="2789293755"/>
                    </a:ext>
                  </a:extLst>
                </a:gridCol>
              </a:tblGrid>
              <a:tr h="5951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ROC-AUC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5296814"/>
                  </a:ext>
                </a:extLst>
              </a:tr>
              <a:tr h="5951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0.965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0.966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0.982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14788958"/>
                  </a:ext>
                </a:extLst>
              </a:tr>
              <a:tr h="5951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0.801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0.714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0.946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8345984"/>
                  </a:ext>
                </a:extLst>
              </a:tr>
              <a:tr h="10105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SVM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0.973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0.973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0.991</a:t>
                      </a:r>
                      <a:endParaRPr lang="en-US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1371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666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D9E1-64C9-AE76-B4F4-8AF92E93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4D55-E950-FECE-16EA-B2DE7612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B9F55-8866-BB75-FE40-AAC61B7F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88BEDA-E75E-3145-93FA-B7229B65DC2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82459" y="2564116"/>
            <a:ext cx="6370072" cy="172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774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2599B-AEFB-2A40-A013-2402A5F2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8D2D-C900-36EE-AC46-BD7BC86B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79AD2-F941-8564-4C9A-AB688130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B83295-27A9-2305-73D1-200D91B90282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82459" y="1409955"/>
            <a:ext cx="6370072" cy="4038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produced lowest false positives.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also performed strongly.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underperformed on sparse TF-IDF vectors. 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388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178B-07F8-D52B-F0F2-0A1F1C49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646-F12B-7676-4273-7B2F65E4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B5655-392D-E141-8347-366E2F29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83AC41C-11B2-91DD-FA83-653FDC18A89C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82459" y="3179670"/>
            <a:ext cx="6370072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8C427-BE81-AA7F-B335-69C07F50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66" y="2049558"/>
            <a:ext cx="7037188" cy="35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63675-014B-A005-D65C-9517FB44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2E6B-2C0E-58B7-F780-2DAEE408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EE5B8-3AD2-A35A-AB94-C345AEA3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FD93B0-881C-2FDE-9172-641A0CB1BB70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82459" y="3179670"/>
            <a:ext cx="6370072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72F71-3355-D51C-5F9B-EC06562FB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66" y="1855910"/>
            <a:ext cx="7107526" cy="368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66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85FC-CE16-6DA9-D266-D7B63318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05B5-7986-A901-F498-5C823496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4E15C-A5B1-8BAA-B310-AC3DF29B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98A1FA-7C23-6B75-084B-F70F0F54DA1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82459" y="3179670"/>
            <a:ext cx="6370072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641EE-7485-E1FB-596E-0C292E0F8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65" y="1799492"/>
            <a:ext cx="7019603" cy="40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57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CC42-EFD6-7C5F-1CD3-8B1AC96F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AA42-38AE-8EC2-6276-1BF537B2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 Pipeline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CA5FD-CCCE-853C-50E2-FFEE78AF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ECE38D-1456-230B-631F-F7709C8EA9A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1912670"/>
            <a:ext cx="6370072" cy="48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Structured Streaming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Simulation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streaming source.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Arabic text ingestion.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model deployed for live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Structured Streaming pipeline implemented. 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551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C18A-8343-1AC0-4793-43EDC4F67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1C33-7E02-178C-724B-0B7749C6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Batch vs Stream Comparison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AF60A-D276-4DE0-DD06-D16FA247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C5F0EA-6FA5-274B-EBFA-9C51CBED546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2050465"/>
            <a:ext cx="6370072" cy="48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throughput for large datasets.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prediction time ≈ 32 seconds.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real-time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Micro-batch latency observed. 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874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297C-6115-BC10-C7EC-379D6EB7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1439-14CE-7B64-7C3A-0FFAE067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Batch vs Stream Comparison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F6BD4-4087-8713-2998-0CB193A8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616696B-0DC0-9D09-6CB2-4B0C10CC0DA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2141147"/>
            <a:ext cx="6370072" cy="128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pPr>
              <a:lnSpc>
                <a:spcPct val="150000"/>
              </a:lnSpc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700DE8-0473-EA4F-73C3-B12A2B053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186138"/>
              </p:ext>
            </p:extLst>
          </p:nvPr>
        </p:nvGraphicFramePr>
        <p:xfrm>
          <a:off x="559366" y="3006968"/>
          <a:ext cx="6370072" cy="30597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85036">
                  <a:extLst>
                    <a:ext uri="{9D8B030D-6E8A-4147-A177-3AD203B41FA5}">
                      <a16:colId xmlns:a16="http://schemas.microsoft.com/office/drawing/2014/main" val="3286955579"/>
                    </a:ext>
                  </a:extLst>
                </a:gridCol>
                <a:gridCol w="3185036">
                  <a:extLst>
                    <a:ext uri="{9D8B030D-6E8A-4147-A177-3AD203B41FA5}">
                      <a16:colId xmlns:a16="http://schemas.microsoft.com/office/drawing/2014/main" val="3656418573"/>
                    </a:ext>
                  </a:extLst>
                </a:gridCol>
              </a:tblGrid>
              <a:tr h="764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Batch Processing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Stream Processing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2985722"/>
                  </a:ext>
                </a:extLst>
              </a:tr>
              <a:tr h="764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Offline analytics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Real-time analytics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178940"/>
                  </a:ext>
                </a:extLst>
              </a:tr>
              <a:tr h="764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Higher throughput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Lower latency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855922"/>
                  </a:ext>
                </a:extLst>
              </a:tr>
              <a:tr h="764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Large-scale execution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Continuous prediction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822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289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7D93-9410-6BBD-C1C8-6C641FA0A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17A1-CD6D-8CA6-5391-21A11995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D2B23-884F-9E85-75DC-D679CC3E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D981EF-0F69-4654-D9A5-D351FF913CEA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2287996"/>
            <a:ext cx="6370072" cy="29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Coefficients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coefficients extracted.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coefficients linked with AI-generated text.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coefficients linked with human-written text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370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1F47-1A64-8066-D9B2-781C5688B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CD67-096E-A67E-8447-3B41393B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52AA4-89C4-57B1-2DCE-06249C42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0CD34B-EA6F-F5DB-3EB2-82BBB7391750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685800" y="2263406"/>
            <a:ext cx="6506307" cy="37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91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F4B7-4D6E-64BE-1086-F4D4A16F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3606-E8CB-7374-ABB7-9ECFA176C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B681D-44BC-7654-0774-A93E0F56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AFD4FB-DE46-0C1D-0058-404D2432BC33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1672443"/>
            <a:ext cx="6370072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Arabic NLP complexity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high-dimensional vectors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environment setup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overhead 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550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0C154-9A35-14A6-95DF-90AAAE8E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1D23-7C33-79CE-45AF-523DC48E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8706-59C6-6A81-CBD1-68938568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C484A8-990A-123E-50CD-D5C376C565D2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2083457"/>
            <a:ext cx="6370072" cy="29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BERT approximation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streaming instead of Kafka cluster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advanced Arabic parsing 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287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1C0E-5D98-F761-E7F2-E730027C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D2BB-7859-14F1-4AA6-9965CCED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5F80D-AD7F-55B0-BD08-C12987D2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D48F19-D66C-BE2C-8A33-5D907B532BAB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1799492"/>
            <a:ext cx="6370072" cy="3884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scalable Arabic AI-text detection pipeline.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distributed preprocessing and machine learning.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Spark Structured Streaming.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achieved best overall performance. 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63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8F4A-841C-B1DC-EAC9-C4F64E41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5CC6-1D91-7AAF-8419-256C18AA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9B5AB-A37D-DE06-56F9-505C9F78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29D1AB-ED41-9805-BDBB-3C4E67901B74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1799492"/>
            <a:ext cx="6370072" cy="29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Best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97.3%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= 97.3%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= 99.1% </a:t>
            </a:r>
          </a:p>
          <a:p>
            <a:pPr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379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B41A3-C67E-3058-EAC9-4AD868E4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F92C-6DE0-12E7-4365-EC7E6B53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66" y="523594"/>
            <a:ext cx="7346383" cy="12758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19B1-3AB1-93DF-60D6-1E859B79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DF7A8B-A2A8-D6BF-1789-3BD7FA32B197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59366" y="1491716"/>
            <a:ext cx="6370072" cy="3576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 integration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transformer embeddings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architectures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distributed cluster deployment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Arabic morphological analysis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1294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{2DF4A821-7E98-418A-B50D-26D924C75F5F}TF55c86556-70ea-476e-aa05-13a38f2d5b0da1381d77_win32-a3c664429073</Template>
  <TotalTime>0</TotalTime>
  <Words>732</Words>
  <Application>Microsoft Office PowerPoint</Application>
  <PresentationFormat>Widescreen</PresentationFormat>
  <Paragraphs>273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Avenir Next LT Pro</vt:lpstr>
      <vt:lpstr>Calibri</vt:lpstr>
      <vt:lpstr>Times New Roman</vt:lpstr>
      <vt:lpstr>Custom</vt:lpstr>
      <vt:lpstr>Scalable Real-time Detection of AI-Generated Arabic Text A Distributed Data Pipeline Approach </vt:lpstr>
      <vt:lpstr>Problem Statement</vt:lpstr>
      <vt:lpstr>Problem Statement</vt:lpstr>
      <vt:lpstr>Project Objectives </vt:lpstr>
      <vt:lpstr>Dataset Description</vt:lpstr>
      <vt:lpstr>Dataset Description</vt:lpstr>
      <vt:lpstr>Dataset Description</vt:lpstr>
      <vt:lpstr>Big Data Architecture</vt:lpstr>
      <vt:lpstr>Big Data Architecture</vt:lpstr>
      <vt:lpstr>Big Data Architecture</vt:lpstr>
      <vt:lpstr>Arabic Text Preprocessing</vt:lpstr>
      <vt:lpstr>Arabic Text Preprocessing</vt:lpstr>
      <vt:lpstr>Arabic Text Preprocessing</vt:lpstr>
      <vt:lpstr>Exploratory Data Analysis</vt:lpstr>
      <vt:lpstr>Exploratory Data Analysis</vt:lpstr>
      <vt:lpstr>Exploratory Data Analysis</vt:lpstr>
      <vt:lpstr>Feature Engineering</vt:lpstr>
      <vt:lpstr>Feature Engineering</vt:lpstr>
      <vt:lpstr>Machine Learning Models</vt:lpstr>
      <vt:lpstr>Machine Learning Models</vt:lpstr>
      <vt:lpstr>Model Performance Results</vt:lpstr>
      <vt:lpstr>Model Performance Results</vt:lpstr>
      <vt:lpstr>Confusion Matrix Analysis</vt:lpstr>
      <vt:lpstr>Confusion Matrix Analysis</vt:lpstr>
      <vt:lpstr>Confusion Matrix Analysis</vt:lpstr>
      <vt:lpstr>Confusion Matrix Analysis</vt:lpstr>
      <vt:lpstr>Real-Time Streaming Pipeline</vt:lpstr>
      <vt:lpstr>Scalability &amp; Batch vs Stream Comparison</vt:lpstr>
      <vt:lpstr>Scalability &amp; Batch vs Stream Comparison</vt:lpstr>
      <vt:lpstr>Feature Importance Analysis</vt:lpstr>
      <vt:lpstr>Feature Importance Analysis</vt:lpstr>
      <vt:lpstr>Challenges &amp; Limitations</vt:lpstr>
      <vt:lpstr>Challenges &amp; Limitations</vt:lpstr>
      <vt:lpstr>Conclusion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2026-05-08T07:55:06Z</dcterms:created>
  <dcterms:modified xsi:type="dcterms:W3CDTF">2026-05-08T07:55:11Z</dcterms:modified>
</cp:coreProperties>
</file>